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c79d4e2bb64d23" /><Relationship Type="http://schemas.openxmlformats.org/officeDocument/2006/relationships/extended-properties" Target="/docProps/app.xml" Id="Ra809e2a1b5d34070" /><Relationship Type="http://schemas.openxmlformats.org/officeDocument/2006/relationships/officeDocument" Target="/ppt/presentation.xml" Id="R21f2bc7039b741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178578c8a344c2"/>
  </p:sldMasterIdLst>
  <p:notesMasterIdLst>
    <p:notesMasterId xmlns:r="http://schemas.openxmlformats.org/officeDocument/2006/relationships" r:id="R87fb5df6a8364cd3"/>
  </p:notesMasterIdLst>
  <p:sldIdLst>
    <p:sldId xmlns:r="http://schemas.openxmlformats.org/officeDocument/2006/relationships" id="256" r:id="R1a18cc1259044972"/>
    <p:sldId xmlns:r="http://schemas.openxmlformats.org/officeDocument/2006/relationships" id="257" r:id="Rbdb584fbca4f41a0"/>
    <p:sldId xmlns:r="http://schemas.openxmlformats.org/officeDocument/2006/relationships" id="258" r:id="R77d9bd3761124b56"/>
    <p:sldId xmlns:r="http://schemas.openxmlformats.org/officeDocument/2006/relationships" id="259" r:id="Rf94ece0efd924a08"/>
    <p:sldId xmlns:r="http://schemas.openxmlformats.org/officeDocument/2006/relationships" id="260" r:id="R500fdfcf3c4e488e"/>
    <p:sldId xmlns:r="http://schemas.openxmlformats.org/officeDocument/2006/relationships" id="261" r:id="Raa8c52c21b7f4f55"/>
    <p:sldId xmlns:r="http://schemas.openxmlformats.org/officeDocument/2006/relationships" id="262" r:id="R551a85a1d67d4976"/>
    <p:sldId xmlns:r="http://schemas.openxmlformats.org/officeDocument/2006/relationships" id="263" r:id="R7dfa73f83aea4564"/>
    <p:sldId xmlns:r="http://schemas.openxmlformats.org/officeDocument/2006/relationships" id="264" r:id="R2c5dae4209464d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c68d5cf7054feb" /><Relationship Type="http://schemas.openxmlformats.org/officeDocument/2006/relationships/slideMaster" Target="/ppt/slideMasters/slideMaster1.xml" Id="Rc6178578c8a344c2" /><Relationship Type="http://schemas.openxmlformats.org/officeDocument/2006/relationships/notesMaster" Target="/ppt/notesMasters/notesMaster1.xml" Id="R87fb5df6a8364cd3" /><Relationship Type="http://schemas.openxmlformats.org/officeDocument/2006/relationships/presProps" Target="/ppt/presProps.xml" Id="R3e23761012d644a5" /><Relationship Type="http://schemas.openxmlformats.org/officeDocument/2006/relationships/tableStyles" Target="/ppt/tableStyles.xml" Id="R1b9651ba8a224368" /><Relationship Type="http://schemas.openxmlformats.org/officeDocument/2006/relationships/slide" Target="/ppt/slides/slide1.xml" Id="R1a18cc1259044972" /><Relationship Type="http://schemas.openxmlformats.org/officeDocument/2006/relationships/slide" Target="/ppt/slides/slide2.xml" Id="Rbdb584fbca4f41a0" /><Relationship Type="http://schemas.openxmlformats.org/officeDocument/2006/relationships/slide" Target="/ppt/slides/slide3.xml" Id="R77d9bd3761124b56" /><Relationship Type="http://schemas.openxmlformats.org/officeDocument/2006/relationships/slide" Target="/ppt/slides/slide4.xml" Id="Rf94ece0efd924a08" /><Relationship Type="http://schemas.openxmlformats.org/officeDocument/2006/relationships/slide" Target="/ppt/slides/slide5.xml" Id="R500fdfcf3c4e488e" /><Relationship Type="http://schemas.openxmlformats.org/officeDocument/2006/relationships/slide" Target="/ppt/slides/slide6.xml" Id="Raa8c52c21b7f4f55" /><Relationship Type="http://schemas.openxmlformats.org/officeDocument/2006/relationships/slide" Target="/ppt/slides/slide7.xml" Id="R551a85a1d67d4976" /><Relationship Type="http://schemas.openxmlformats.org/officeDocument/2006/relationships/slide" Target="/ppt/slides/slide8.xml" Id="R7dfa73f83aea4564" /><Relationship Type="http://schemas.openxmlformats.org/officeDocument/2006/relationships/slide" Target="/ppt/slides/slide9.xml" Id="R2c5dae4209464d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85c4e9057c43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126e2d3dda4f61" /><Relationship Type="http://schemas.openxmlformats.org/officeDocument/2006/relationships/notesMaster" Target="/ppt/notesMasters/notesMaster1.xml" Id="Raf240b5cd2824f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cfc1b88f934f5b" /><Relationship Type="http://schemas.openxmlformats.org/officeDocument/2006/relationships/notesMaster" Target="/ppt/notesMasters/notesMaster1.xml" Id="R2e4a1341da674e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b3d1de013e4994" /><Relationship Type="http://schemas.openxmlformats.org/officeDocument/2006/relationships/notesMaster" Target="/ppt/notesMasters/notesMaster1.xml" Id="R377fc0ebdd5e49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caa179dba24c11" /><Relationship Type="http://schemas.openxmlformats.org/officeDocument/2006/relationships/notesMaster" Target="/ppt/notesMasters/notesMaster1.xml" Id="Rd5391879bb8142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eaaced7be648d8" /><Relationship Type="http://schemas.openxmlformats.org/officeDocument/2006/relationships/notesMaster" Target="/ppt/notesMasters/notesMaster1.xml" Id="R1a59ed464c094d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60437eb2e14e0e" /><Relationship Type="http://schemas.openxmlformats.org/officeDocument/2006/relationships/notesMaster" Target="/ppt/notesMasters/notesMaster1.xml" Id="Ra6f44084d6a34f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c0b1b509f94d3b" /><Relationship Type="http://schemas.openxmlformats.org/officeDocument/2006/relationships/notesMaster" Target="/ppt/notesMasters/notesMaster1.xml" Id="R3f065e6cd0b449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c6533879e045e2" /><Relationship Type="http://schemas.openxmlformats.org/officeDocument/2006/relationships/notesMaster" Target="/ppt/notesMasters/notesMaster1.xml" Id="Rc3c02b3d81cb49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2a8e5db1cd411d" /><Relationship Type="http://schemas.openxmlformats.org/officeDocument/2006/relationships/notesMaster" Target="/ppt/notesMasters/notesMaster1.xml" Id="R9889754e1af042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update the professor on the revision, not re-present the full study.</a:t>
            </a:r>
          </a:p>
          <a:p xmlns:a="http://schemas.openxmlformats.org/drawingml/2006/main">
            <a:r>
              <a:t>Open with the core message: the evidence did not change, but the claims and documentation are now more defensible.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primary manuscript: paper/revised5_shortened.tex</a:t>
            </a:r>
          </a:p>
          <a:p xmlns:a="http://schemas.openxmlformats.org/drawingml/2006/main">
            <a:r>
              <a:t>- Revision record: docs/CONCISE_REBUTTAL.md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map for the discussion.</a:t>
            </a:r>
          </a:p>
          <a:p xmlns:a="http://schemas.openxmlformats.org/drawingml/2006/main">
            <a:r>
              <a:t>Emphasize that revisions concern scientific defensibility and reporting accuracy, not retrofitting the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docs/CONCISE_REBUTTAL.md</a:t>
            </a:r>
          </a:p>
          <a:p xmlns:a="http://schemas.openxmlformats.org/drawingml/2006/main">
            <a:r>
              <a:t>- docs/PAPER_REVISION_CHANGELOG.md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the paper does not reject human-likeness.</a:t>
            </a:r>
          </a:p>
          <a:p xmlns:a="http://schemas.openxmlformats.org/drawingml/2006/main">
            <a:r>
              <a:t>The Episteme-Phronesis distinction is a conceptual lens, not a direct measurement mapping. HumT measures linguistic human-likeness rather than factual knowledge.</a:t>
            </a:r>
          </a:p>
          <a:p xmlns:a="http://schemas.openxmlformats.org/drawingml/2006/main">
            <a:r>
              <a:t>The revised framing answers the tautology criticism by limiting what the comparison establishes.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paper/revised5_shortened.tex, Abstract and Introduction</a:t>
            </a:r>
          </a:p>
          <a:p xmlns:a="http://schemas.openxmlformats.org/drawingml/2006/main">
            <a:r>
              <a:t>- docs/theory/PERSONA_THEORY.md</a:t>
            </a:r>
          </a:p>
          <a:p xmlns:a="http://schemas.openxmlformats.org/drawingml/2006/main">
            <a:r>
              <a:t>- docs/CONCISE_REBUTTAL.md, Sections 2 and 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most important construct-validity response.</a:t>
            </a:r>
          </a:p>
          <a:p xmlns:a="http://schemas.openxmlformats.org/drawingml/2006/main">
            <a:r>
              <a:t>Domain Fit preserves the criteria originally shown to annotators as Contextual Fit. The name changed, but the definition, anchors, ratings, and data did not.</a:t>
            </a:r>
          </a:p>
          <a:p xmlns:a="http://schemas.openxmlformats.org/drawingml/2006/main">
            <a:r>
              <a:t>Explain that association is expected because fit contributes to appropriateness. Separate rater pools reduce criterion contamination but do not prove construct independence.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analysis/outputs/tables/construct_relationships.csv</a:t>
            </a:r>
          </a:p>
          <a:p xmlns:a="http://schemas.openxmlformats.org/drawingml/2006/main">
            <a:r>
              <a:t>- analysis/outputs/tables/f_oa_disagreement.csv</a:t>
            </a:r>
          </a:p>
          <a:p xmlns:a="http://schemas.openxmlformats.org/drawingml/2006/main">
            <a:r>
              <a:t>- data/clean_domains/*/rubric.md</a:t>
            </a:r>
          </a:p>
          <a:p xmlns:a="http://schemas.openxmlformats.org/drawingml/2006/main">
            <a:r>
              <a:t>- paper/revised5_shortened.tex, Domain Fit and Overall Appropriateness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addresses the reproducibility criticism directly.</a:t>
            </a:r>
          </a:p>
          <a:p xmlns:a="http://schemas.openxmlformats.org/drawingml/2006/main">
            <a:r>
              <a:t>Point out that the response counts and prompt clusters were reconciled without changing analysis-used 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paper/revised5_shortened.tex, Analysis Plan</a:t>
            </a:r>
          </a:p>
          <a:p xmlns:a="http://schemas.openxmlformats.org/drawingml/2006/main">
            <a:r>
              <a:t>- analysis/outputs/reports/predictive.md</a:t>
            </a:r>
          </a:p>
          <a:p xmlns:a="http://schemas.openxmlformats.org/drawingml/2006/main">
            <a:r>
              <a:t>- docs/CONCISE_REBUTTAL.md, Section 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chart shows why the central claim survives the stricter framing.</a:t>
            </a:r>
          </a:p>
          <a:p xmlns:a="http://schemas.openxmlformats.org/drawingml/2006/main">
            <a:r>
              <a:t>Call out that corrected reliability values came directly from the generated table, not a new calculation.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analysis/outputs/tables/cv_performance.csv</a:t>
            </a:r>
          </a:p>
          <a:p xmlns:a="http://schemas.openxmlformats.org/drawingml/2006/main">
            <a:r>
              <a:t>- analysis/outputs/tables/reliability.csv</a:t>
            </a:r>
          </a:p>
          <a:p xmlns:a="http://schemas.openxmlformats.org/drawingml/2006/main">
            <a:r>
              <a:t>- paper/revised5_shortened.tex, Results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precise: the approval letter names the parent project, and the team confirms PERSONA is within that scope.</a:t>
            </a:r>
          </a:p>
          <a:p xmlns:a="http://schemas.openxmlformats.org/drawingml/2006/main">
            <a:r>
              <a:t>Do not circulate the unredacted signed letter in anonymous submission materials.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Signed ITU EIRB approval letter dated 12 February 2026 (private study record)</a:t>
            </a:r>
          </a:p>
          <a:p xmlns:a="http://schemas.openxmlformats.org/drawingml/2006/main">
            <a:r>
              <a:t>- docs/ETHICS_AND_ANNOTATOR_PROVENANCE.md</a:t>
            </a:r>
          </a:p>
          <a:p xmlns:a="http://schemas.openxmlformats.org/drawingml/2006/main">
            <a:r>
              <a:t>- paper/revised5_shortened.tex, Ethics and Participant Protections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newest primary file is the revised5 shortened draft with the EIRB statement merged.</a:t>
            </a:r>
          </a:p>
          <a:p xmlns:a="http://schemas.openxmlformats.org/drawingml/2006/main">
            <a:r>
              <a:t>The remaining work is limited to supplementary-material, layout, and reference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paper/revised5_shortened.tex</a:t>
            </a:r>
          </a:p>
          <a:p xmlns:a="http://schemas.openxmlformats.org/drawingml/2006/main">
            <a:r>
              <a:t>- https://chi2027.acm.org/authors/papers/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explicit questions rather than a generic thank-you.</a:t>
            </a:r>
          </a:p>
          <a:p xmlns:a="http://schemas.openxmlformats.org/drawingml/2006/main">
            <a:r>
              <a:t>If the professor agrees with these three points, only editorial and anonymization work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docs/CONCISE_REBUTTAL.md</a:t>
            </a:r>
          </a:p>
          <a:p xmlns:a="http://schemas.openxmlformats.org/drawingml/2006/main">
            <a:r>
              <a:t>- docs/PAPER_TODOS.md</a:t>
            </a:r>
          </a:p>
          <a:p xmlns:a="http://schemas.openxmlformats.org/drawingml/2006/main">
            <a:r>
              <a:t>- paper/revised5_shortened.tex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3dcb6e170c4c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e6124dd4c74ad4" /><Relationship Type="http://schemas.openxmlformats.org/officeDocument/2006/relationships/slideLayout" Target="/ppt/slideLayouts/slideLayout1.xml" Id="R8ec3852c675c43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c3852c675c43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1c1483e2c44ae" /><Relationship Type="http://schemas.openxmlformats.org/officeDocument/2006/relationships/notesSlide" Target="/ppt/notesSlides/notesSlide1.xml" Id="R38ceb82a9cbd46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83833d1264839" /><Relationship Type="http://schemas.openxmlformats.org/officeDocument/2006/relationships/notesSlide" Target="/ppt/notesSlides/notesSlide2.xml" Id="R5f29f462532e4e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d67b72e5d4c16" /><Relationship Type="http://schemas.openxmlformats.org/officeDocument/2006/relationships/notesSlide" Target="/ppt/notesSlides/notesSlide3.xml" Id="Rf5867746d91b4e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0b81e9c5e4283" /><Relationship Type="http://schemas.openxmlformats.org/officeDocument/2006/relationships/notesSlide" Target="/ppt/notesSlides/notesSlide4.xml" Id="R4449e387a28b4a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8b73e26124d36" /><Relationship Type="http://schemas.openxmlformats.org/officeDocument/2006/relationships/notesSlide" Target="/ppt/notesSlides/notesSlide5.xml" Id="R0a09f63f12ec44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e5f8b858c479f" /><Relationship Type="http://schemas.openxmlformats.org/officeDocument/2006/relationships/chart" Target="/ppt/slides/charts/chart1.xml" Id="Rfc1706930e8b497d" /><Relationship Type="http://schemas.openxmlformats.org/officeDocument/2006/relationships/notesSlide" Target="/ppt/notesSlides/notesSlide6.xml" Id="R5108bef08a4f4b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8bf4f58c14259" /><Relationship Type="http://schemas.openxmlformats.org/officeDocument/2006/relationships/notesSlide" Target="/ppt/notesSlides/notesSlide7.xml" Id="Rf96f732f1b8443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73011c6ca459d" /><Relationship Type="http://schemas.openxmlformats.org/officeDocument/2006/relationships/notesSlide" Target="/ppt/notesSlides/notesSlide8.xml" Id="R6671dc52be4847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85a3d155e4f20" /><Relationship Type="http://schemas.openxmlformats.org/officeDocument/2006/relationships/notesSlide" Target="/ppt/notesSlides/notesSlide9.xml" Id="Rddc49cea78c643a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 only</c:v>
          </c:tx>
          <c:spPr>
            <a:solidFill xmlns:a="http://schemas.openxmlformats.org/drawingml/2006/main">
              <a:srgbClr val="65C7EA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Mental health</c:v>
                </c:pt>
                <c:pt idx="1">
                  <c:v>Education</c:v>
                </c:pt>
                <c:pt idx="2">
                  <c:v>Health</c:v>
                </c:pt>
                <c:pt idx="3">
                  <c:v>Pooled</c:v>
                </c:pt>
              </c:strCache>
            </c:strRef>
          </c:cat>
          <c:val>
            <c:numRef>
              <c:f>'Chart Data'!$B$2:$B$5</c:f>
              <c:numCache>
                <c:formatCode>0.000</c:formatCode>
                <c:ptCount val="4"/>
                <c:pt idx="0">
                  <c:v>0.026</c:v>
                </c:pt>
                <c:pt idx="1">
                  <c:v>0.099</c:v>
                </c:pt>
                <c:pt idx="2">
                  <c:v>-0.007</c:v>
                </c:pt>
                <c:pt idx="3">
                  <c:v>0.221</c:v>
                </c:pt>
              </c:numCache>
            </c:numRef>
          </c:val>
        </c:ser>
        <c:ser>
          <c:idx val="1"/>
          <c:order val="1"/>
          <c:tx>
            <c:v>Full profile</c:v>
          </c:tx>
          <c:spPr>
            <a:solidFill xmlns:a="http://schemas.openxmlformats.org/drawingml/2006/main">
              <a:srgbClr val="2376D8"/>
            </a:solidFill>
          </c:spPr>
          <c:cat>
            <c:strRef>
              <c:f>'Chart Data'!$C$2:$C$5</c:f>
              <c:strCache>
                <c:ptCount val="4"/>
                <c:pt idx="0">
                  <c:v>Mental health</c:v>
                </c:pt>
                <c:pt idx="1">
                  <c:v>Education</c:v>
                </c:pt>
                <c:pt idx="2">
                  <c:v>Health</c:v>
                </c:pt>
                <c:pt idx="3">
                  <c:v>Pooled</c:v>
                </c:pt>
              </c:strCache>
            </c:strRef>
          </c:cat>
          <c:val>
            <c:numRef>
              <c:f>'Chart Data'!$D$2:$D$5</c:f>
              <c:numCache>
                <c:formatCode>0.000</c:formatCode>
                <c:ptCount val="4"/>
                <c:pt idx="0">
                  <c:v>0.659</c:v>
                </c:pt>
                <c:pt idx="1">
                  <c:v>0.562</c:v>
                </c:pt>
                <c:pt idx="2">
                  <c:v>0.256</c:v>
                </c:pt>
                <c:pt idx="3">
                  <c:v>0.499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41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6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8"/>
          <c:min val="-0.1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5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673"/>
                </a:solidFill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C66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B7CFE7B5-E655-4D0C-8301-55CDAEB4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rPr>
              <a:t>PERSONA | MANUSCRIPT REVISION UPDATE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D45DD16-8E12-4705-A9E5-C101F463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10096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What changed - and why the paper is stronger</a:t>
            </a:r>
          </a:p>
        </p:txBody>
      </p:sp>
      <p:sp>
        <p:nvSpPr>
          <p:cNvPr id="3" name="cover-rule">
            <a:extLst xmlns:a="http://schemas.openxmlformats.org/drawingml/2006/main">
              <a:ext uri="{FF2B5EF4-FFF2-40B4-BE49-F238E27FC236}">
                <a16:creationId xmlns:a16="http://schemas.microsoft.com/office/drawing/2014/main" id="{A4E84617-740C-4422-BBDD-62487EA3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29075"/>
            <a:ext cx="2952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6D8"/>
          </a:solidFill>
          <a:ln xmlns:a="http://schemas.openxmlformats.org/drawingml/2006/main" w="9525">
            <a:solidFill>
              <a:srgbClr val="2376D8"/>
            </a:solidFill>
            <a:prstDash val="solid"/>
          </a:ln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0D5D12A-C9D0-43B7-9E86-152BF912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14850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Professor review discussion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2 September 2026</a:t>
            </a:r>
          </a:p>
        </p:txBody>
      </p:sp>
      <p:sp>
        <p:nvSpPr>
          <p:cNvPr id="5" name="cover-context">
            <a:extLst xmlns:a="http://schemas.openxmlformats.org/drawingml/2006/main">
              <a:ext uri="{FF2B5EF4-FFF2-40B4-BE49-F238E27FC236}">
                <a16:creationId xmlns:a16="http://schemas.microsoft.com/office/drawing/2014/main" id="{D4430D85-38F7-46A5-8613-9D68B495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019675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Focus: recent theoretical, methodological, ethics, and submission-readiness revisions</a:t>
            </a:r>
          </a:p>
        </p:txBody>
      </p:sp>
    </p:spTree>
    <p:extLst>
      <p:ext uri="{BB962C8B-B14F-4D97-AF65-F5344CB8AC3E}">
        <p14:creationId xmlns:p14="http://schemas.microsoft.com/office/powerpoint/2010/main" val="17545838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2">
            <a:extLst xmlns:a="http://schemas.openxmlformats.org/drawingml/2006/main">
              <a:ext uri="{FF2B5EF4-FFF2-40B4-BE49-F238E27FC236}">
                <a16:creationId xmlns:a16="http://schemas.microsoft.com/office/drawing/2014/main" id="{73D3AAB6-BC8A-4DF3-97DD-970251B4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The revision addressed four reviewer-facing risks</a:t>
            </a:r>
          </a:p>
        </p:txBody>
      </p:sp>
      <p:sp>
        <p:nvSpPr>
          <p:cNvPr id="2" name="accent-2">
            <a:extLst xmlns:a="http://schemas.openxmlformats.org/drawingml/2006/main">
              <a:ext uri="{FF2B5EF4-FFF2-40B4-BE49-F238E27FC236}">
                <a16:creationId xmlns:a16="http://schemas.microsoft.com/office/drawing/2014/main" id="{22BDB210-D856-4BAD-AA86-AAFB89CF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95375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6D8"/>
          </a:solidFill>
          <a:ln xmlns:a="http://schemas.openxmlformats.org/drawingml/2006/main" w="9525">
            <a:solidFill>
              <a:srgbClr val="2376D8"/>
            </a:solidFill>
            <a:prstDash val="solid"/>
          </a:ln>
        </p:spPr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28D647B7-AC33-44CD-B2DE-BE0F53C7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43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" name="risk-num-0">
            <a:extLst xmlns:a="http://schemas.openxmlformats.org/drawingml/2006/main">
              <a:ext uri="{FF2B5EF4-FFF2-40B4-BE49-F238E27FC236}">
                <a16:creationId xmlns:a16="http://schemas.microsoft.com/office/drawing/2014/main" id="{6C34392E-DFC4-45DA-8097-A2E70740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71650"/>
            <a:ext cx="628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risk-title-0">
            <a:extLst xmlns:a="http://schemas.openxmlformats.org/drawingml/2006/main">
              <a:ext uri="{FF2B5EF4-FFF2-40B4-BE49-F238E27FC236}">
                <a16:creationId xmlns:a16="http://schemas.microsoft.com/office/drawing/2014/main" id="{490AD8B3-29F8-4557-8E96-94889BB6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00350"/>
            <a:ext cx="2362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Claims</a:t>
            </a:r>
          </a:p>
        </p:txBody>
      </p:sp>
      <p:sp>
        <p:nvSpPr>
          <p:cNvPr id="6" name="risk-body-0">
            <a:extLst xmlns:a="http://schemas.openxmlformats.org/drawingml/2006/main">
              <a:ext uri="{FF2B5EF4-FFF2-40B4-BE49-F238E27FC236}">
                <a16:creationId xmlns:a16="http://schemas.microsoft.com/office/drawing/2014/main" id="{60CB7188-BFAB-4D00-82FC-A91E508C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76625"/>
            <a:ext cx="2362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Narrowed the claim and added a bounded Episteme-Phronesis lens.</a:t>
            </a:r>
          </a:p>
        </p:txBody>
      </p:sp>
      <p:sp>
        <p:nvSpPr>
          <p:cNvPr id="7" name="risk-num-1">
            <a:extLst xmlns:a="http://schemas.openxmlformats.org/drawingml/2006/main">
              <a:ext uri="{FF2B5EF4-FFF2-40B4-BE49-F238E27FC236}">
                <a16:creationId xmlns:a16="http://schemas.microsoft.com/office/drawing/2014/main" id="{8341683F-06E4-4D50-BDA1-E715704E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71650"/>
            <a:ext cx="628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risk-title-1">
            <a:extLst xmlns:a="http://schemas.openxmlformats.org/drawingml/2006/main">
              <a:ext uri="{FF2B5EF4-FFF2-40B4-BE49-F238E27FC236}">
                <a16:creationId xmlns:a16="http://schemas.microsoft.com/office/drawing/2014/main" id="{DFDCC48C-DB50-4C23-9612-F13573A1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00350"/>
            <a:ext cx="2362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Construct validity</a:t>
            </a:r>
          </a:p>
        </p:txBody>
      </p:sp>
      <p:sp>
        <p:nvSpPr>
          <p:cNvPr id="9" name="risk-body-1">
            <a:extLst xmlns:a="http://schemas.openxmlformats.org/drawingml/2006/main">
              <a:ext uri="{FF2B5EF4-FFF2-40B4-BE49-F238E27FC236}">
                <a16:creationId xmlns:a16="http://schemas.microsoft.com/office/drawing/2014/main" id="{5C3D7D2C-D19B-4AD9-A16C-BED9F08C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76625"/>
            <a:ext cx="2362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Defined Domain Fit and audited its relationship with overall appropriateness.</a:t>
            </a:r>
          </a:p>
        </p:txBody>
      </p:sp>
      <p:sp>
        <p:nvSpPr>
          <p:cNvPr id="10" name="risk-num-2">
            <a:extLst xmlns:a="http://schemas.openxmlformats.org/drawingml/2006/main">
              <a:ext uri="{FF2B5EF4-FFF2-40B4-BE49-F238E27FC236}">
                <a16:creationId xmlns:a16="http://schemas.microsoft.com/office/drawing/2014/main" id="{A5941659-0D99-4E88-AC19-043E1BA4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71650"/>
            <a:ext cx="628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risk-title-2">
            <a:extLst xmlns:a="http://schemas.openxmlformats.org/drawingml/2006/main">
              <a:ext uri="{FF2B5EF4-FFF2-40B4-BE49-F238E27FC236}">
                <a16:creationId xmlns:a16="http://schemas.microsoft.com/office/drawing/2014/main" id="{ECDC7C29-B7A3-428A-905E-478642FF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00350"/>
            <a:ext cx="2362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1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Methods and reporting</a:t>
            </a:r>
          </a:p>
        </p:txBody>
      </p:sp>
      <p:sp>
        <p:nvSpPr>
          <p:cNvPr id="12" name="risk-body-2">
            <a:extLst xmlns:a="http://schemas.openxmlformats.org/drawingml/2006/main">
              <a:ext uri="{FF2B5EF4-FFF2-40B4-BE49-F238E27FC236}">
                <a16:creationId xmlns:a16="http://schemas.microsoft.com/office/drawing/2014/main" id="{599BBE15-F8A4-4F71-9242-B74B1291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76625"/>
            <a:ext cx="2362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Specified the pipeline and reconciled every reported number.</a:t>
            </a:r>
          </a:p>
        </p:txBody>
      </p:sp>
      <p:sp>
        <p:nvSpPr>
          <p:cNvPr id="13" name="risk-num-3">
            <a:extLst xmlns:a="http://schemas.openxmlformats.org/drawingml/2006/main">
              <a:ext uri="{FF2B5EF4-FFF2-40B4-BE49-F238E27FC236}">
                <a16:creationId xmlns:a16="http://schemas.microsoft.com/office/drawing/2014/main" id="{DADE40DF-B183-4B59-A8A7-D26F2177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71650"/>
            <a:ext cx="628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4" name="risk-title-3">
            <a:extLst xmlns:a="http://schemas.openxmlformats.org/drawingml/2006/main">
              <a:ext uri="{FF2B5EF4-FFF2-40B4-BE49-F238E27FC236}">
                <a16:creationId xmlns:a16="http://schemas.microsoft.com/office/drawing/2014/main" id="{1EA133BE-6CAD-49BD-A225-7DC2DF43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0350"/>
            <a:ext cx="2362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2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Ethics and compliance</a:t>
            </a:r>
          </a:p>
        </p:txBody>
      </p:sp>
      <p:sp>
        <p:nvSpPr>
          <p:cNvPr id="15" name="risk-body-3">
            <a:extLst xmlns:a="http://schemas.openxmlformats.org/drawingml/2006/main">
              <a:ext uri="{FF2B5EF4-FFF2-40B4-BE49-F238E27FC236}">
                <a16:creationId xmlns:a16="http://schemas.microsoft.com/office/drawing/2014/main" id="{00EE12B2-3BDC-4C25-A4D3-DC1883BE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76625"/>
            <a:ext cx="2362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Added EIRB status, participant protections, and CHI checks.</a:t>
            </a:r>
          </a:p>
        </p:txBody>
      </p:sp>
      <p:sp>
        <p:nvSpPr>
          <p:cNvPr id="16" name="unchanged-band">
            <a:extLst xmlns:a="http://schemas.openxmlformats.org/drawingml/2006/main">
              <a:ext uri="{FF2B5EF4-FFF2-40B4-BE49-F238E27FC236}">
                <a16:creationId xmlns:a16="http://schemas.microsoft.com/office/drawing/2014/main" id="{03530CDD-7574-4386-82AB-5EECD97D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0"/>
            <a:ext cx="1082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unchanged-copy">
            <a:extLst xmlns:a="http://schemas.openxmlformats.org/drawingml/2006/main">
              <a:ext uri="{FF2B5EF4-FFF2-40B4-BE49-F238E27FC236}">
                <a16:creationId xmlns:a16="http://schemas.microsoft.com/office/drawing/2014/main" id="{DB53B535-23E7-4F82-BC13-A445D931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1032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3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No dataset, annotation, model, fold, confidence interval, headline result, table, or figure was selectively changed.</a:t>
            </a:r>
          </a:p>
        </p:txBody>
      </p:sp>
    </p:spTree>
    <p:extLst>
      <p:ext uri="{BB962C8B-B14F-4D97-AF65-F5344CB8AC3E}">
        <p14:creationId xmlns:p14="http://schemas.microsoft.com/office/powerpoint/2010/main" val="16183159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3">
            <a:extLst xmlns:a="http://schemas.openxmlformats.org/drawingml/2006/main">
              <a:ext uri="{FF2B5EF4-FFF2-40B4-BE49-F238E27FC236}">
                <a16:creationId xmlns:a16="http://schemas.microsoft.com/office/drawing/2014/main" id="{0F4940B2-9D06-493A-A66A-F9C11CBC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The core claim is now narrower - and more defensible</a:t>
            </a:r>
          </a:p>
        </p:txBody>
      </p:sp>
      <p:sp>
        <p:nvSpPr>
          <p:cNvPr id="2" name="accent-3">
            <a:extLst xmlns:a="http://schemas.openxmlformats.org/drawingml/2006/main">
              <a:ext uri="{FF2B5EF4-FFF2-40B4-BE49-F238E27FC236}">
                <a16:creationId xmlns:a16="http://schemas.microsoft.com/office/drawing/2014/main" id="{8EAC8F5F-C3C6-49FB-AE5B-A4EFA16D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95375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6D8"/>
          </a:solidFill>
          <a:ln xmlns:a="http://schemas.openxmlformats.org/drawingml/2006/main" w="9525">
            <a:solidFill>
              <a:srgbClr val="2376D8"/>
            </a:solidFill>
            <a:prstDash val="solid"/>
          </a:ln>
        </p:spPr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DC66283C-FEAD-4640-8FA2-7A065C8A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43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" name="before-label">
            <a:extLst xmlns:a="http://schemas.openxmlformats.org/drawingml/2006/main">
              <a:ext uri="{FF2B5EF4-FFF2-40B4-BE49-F238E27FC236}">
                <a16:creationId xmlns:a16="http://schemas.microsoft.com/office/drawing/2014/main" id="{A2B19B5B-DD76-4CB2-B03D-09603A58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525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744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A7443E"/>
                </a:solidFill>
                <a:latin typeface="Helvetica Neue"/>
                <a:ea typeface="Helvetica Neue"/>
                <a:cs typeface="Helvetica Neue"/>
              </a:rPr>
              <a:t>EARLIER RISK</a:t>
            </a:r>
          </a:p>
        </p:txBody>
      </p:sp>
      <p:sp>
        <p:nvSpPr>
          <p:cNvPr id="5" name="after-label">
            <a:extLst xmlns:a="http://schemas.openxmlformats.org/drawingml/2006/main">
              <a:ext uri="{FF2B5EF4-FFF2-40B4-BE49-F238E27FC236}">
                <a16:creationId xmlns:a16="http://schemas.microsoft.com/office/drawing/2014/main" id="{8A96D100-E6AB-4130-A776-E4FE63EE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525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7A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7A5B"/>
                </a:solidFill>
                <a:latin typeface="Helvetica Neue"/>
                <a:ea typeface="Helvetica Neue"/>
                <a:cs typeface="Helvetica Neue"/>
              </a:rPr>
              <a:t>CURRENT POSITION</a:t>
            </a:r>
          </a:p>
        </p:txBody>
      </p:sp>
      <p:sp>
        <p:nvSpPr>
          <p:cNvPr id="6" name="before-panel">
            <a:extLst xmlns:a="http://schemas.openxmlformats.org/drawingml/2006/main">
              <a:ext uri="{FF2B5EF4-FFF2-40B4-BE49-F238E27FC236}">
                <a16:creationId xmlns:a16="http://schemas.microsoft.com/office/drawing/2014/main" id="{EE3BE606-F42E-48B0-B9EB-4D4BD6FC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5219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EEE"/>
          </a:solidFill>
          <a:ln xmlns:a="http://schemas.openxmlformats.org/drawingml/2006/main" w="9525">
            <a:solidFill>
              <a:srgbClr val="E2C3C0"/>
            </a:solidFill>
            <a:prstDash val="solid"/>
          </a:ln>
        </p:spPr>
      </p:sp>
      <p:sp>
        <p:nvSpPr>
          <p:cNvPr id="7" name="after-panel">
            <a:extLst xmlns:a="http://schemas.openxmlformats.org/drawingml/2006/main">
              <a:ext uri="{FF2B5EF4-FFF2-40B4-BE49-F238E27FC236}">
                <a16:creationId xmlns:a16="http://schemas.microsoft.com/office/drawing/2014/main" id="{2EAAAFC0-4064-42A3-B3A3-E2C0A59F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838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3"/>
          </a:solidFill>
          <a:ln xmlns:a="http://schemas.openxmlformats.org/drawingml/2006/main" w="9525">
            <a:solidFill>
              <a:srgbClr val="B9DACC"/>
            </a:solidFill>
            <a:prstDash val="solid"/>
          </a:ln>
        </p:spPr>
      </p:sp>
      <p:sp>
        <p:nvSpPr>
          <p:cNvPr id="8" name="before-quote">
            <a:extLst xmlns:a="http://schemas.openxmlformats.org/drawingml/2006/main">
              <a:ext uri="{FF2B5EF4-FFF2-40B4-BE49-F238E27FC236}">
                <a16:creationId xmlns:a16="http://schemas.microsoft.com/office/drawing/2014/main" id="{D82966DD-D0C1-45E4-9DFB-D714A89E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4648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84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"The full profile improves prediction and validates PERSONA."</a:t>
            </a:r>
          </a:p>
        </p:txBody>
      </p:sp>
      <p:sp>
        <p:nvSpPr>
          <p:cNvPr id="9" name="before-detail">
            <a:extLst xmlns:a="http://schemas.openxmlformats.org/drawingml/2006/main">
              <a:ext uri="{FF2B5EF4-FFF2-40B4-BE49-F238E27FC236}">
                <a16:creationId xmlns:a16="http://schemas.microsoft.com/office/drawing/2014/main" id="{373F4356-B6E3-46EA-BD9E-D3DCECF9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4648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Could sound tautological because the richer model includes dimensions designed to relate to appropriateness.</a:t>
            </a:r>
          </a:p>
        </p:txBody>
      </p:sp>
      <p:sp>
        <p:nvSpPr>
          <p:cNvPr id="10" name="after-quote">
            <a:extLst xmlns:a="http://schemas.openxmlformats.org/drawingml/2006/main">
              <a:ext uri="{FF2B5EF4-FFF2-40B4-BE49-F238E27FC236}">
                <a16:creationId xmlns:a16="http://schemas.microsoft.com/office/drawing/2014/main" id="{E4F985D8-0A0B-432E-8AD8-E1BD8912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43150"/>
            <a:ext cx="4267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Human-likeness is useful, but insufficient on its own.</a:t>
            </a:r>
          </a:p>
        </p:txBody>
      </p:sp>
      <p:sp>
        <p:nvSpPr>
          <p:cNvPr id="11" name="after-detail">
            <a:extLst xmlns:a="http://schemas.openxmlformats.org/drawingml/2006/main">
              <a:ext uri="{FF2B5EF4-FFF2-40B4-BE49-F238E27FC236}">
                <a16:creationId xmlns:a16="http://schemas.microsoft.com/office/drawing/2014/main" id="{26FD4541-2E63-4A20-910C-2B37F264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05200"/>
            <a:ext cx="4267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The profile quantifies OA-associated information omitted by H alone and diagnoses which dimensions carry that information by domain.</a:t>
            </a:r>
          </a:p>
        </p:txBody>
      </p:sp>
      <p:sp>
        <p:nvSpPr>
          <p:cNvPr id="12" name="nonclaim">
            <a:extLst xmlns:a="http://schemas.openxmlformats.org/drawingml/2006/main">
              <a:ext uri="{FF2B5EF4-FFF2-40B4-BE49-F238E27FC236}">
                <a16:creationId xmlns:a16="http://schemas.microsoft.com/office/drawing/2014/main" id="{9769CCFC-3E28-4993-8EF3-ED79328C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34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rPr>
              <a:t>Not claimed: universal superiority, causal validity, or a fully validated psychometric instrument.</a:t>
            </a:r>
          </a:p>
        </p:txBody>
      </p:sp>
    </p:spTree>
    <p:extLst>
      <p:ext uri="{BB962C8B-B14F-4D97-AF65-F5344CB8AC3E}">
        <p14:creationId xmlns:p14="http://schemas.microsoft.com/office/powerpoint/2010/main" val="9430242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4">
            <a:extLst xmlns:a="http://schemas.openxmlformats.org/drawingml/2006/main">
              <a:ext uri="{FF2B5EF4-FFF2-40B4-BE49-F238E27FC236}">
                <a16:creationId xmlns:a16="http://schemas.microsoft.com/office/drawing/2014/main" id="{329AC887-3CD0-4DA4-B295-41039176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F and OA are now tested directly</a:t>
            </a:r>
          </a:p>
        </p:txBody>
      </p:sp>
      <p:sp>
        <p:nvSpPr>
          <p:cNvPr id="2" name="accent-4">
            <a:extLst xmlns:a="http://schemas.openxmlformats.org/drawingml/2006/main">
              <a:ext uri="{FF2B5EF4-FFF2-40B4-BE49-F238E27FC236}">
                <a16:creationId xmlns:a16="http://schemas.microsoft.com/office/drawing/2014/main" id="{22329FCF-C6BA-4D97-97F4-CB83F00A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95375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6D8"/>
          </a:solidFill>
          <a:ln xmlns:a="http://schemas.openxmlformats.org/drawingml/2006/main" w="9525">
            <a:solidFill>
              <a:srgbClr val="2376D8"/>
            </a:solidFill>
            <a:prstDash val="solid"/>
          </a:ln>
        </p:spPr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7AC78C8D-0C24-4F42-B133-4DC77E42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43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foa-intro">
            <a:extLst xmlns:a="http://schemas.openxmlformats.org/drawingml/2006/main">
              <a:ext uri="{FF2B5EF4-FFF2-40B4-BE49-F238E27FC236}">
                <a16:creationId xmlns:a16="http://schemas.microsoft.com/office/drawing/2014/main" id="{B55738A7-F210-40AB-BFEA-18168397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0492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Domain Fit is narrower than holistic appropriateness. The audit reports alignment and concrete disagreement.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495300" y="2133600"/>
          <a:ext xmlns:a="http://schemas.openxmlformats.org/drawingml/2006/main" cx="7000875" cy="27813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47875"/>
                <a:gridCol w="1619250"/>
                <a:gridCol w="1619250"/>
                <a:gridCol w="1714500"/>
              </a:tblGrid>
              <a:tr h="6953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Domain</a:t>
                      </a:r>
                    </a:p>
                  </a:txBody>
                  <a:tcPr marL="91440" marR="91440" marT="45720" marB="45720"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Spearman rho</a:t>
                      </a:r>
                    </a:p>
                  </a:txBody>
                  <a:tcPr marL="91440" marR="91440" marT="45720" marB="45720"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Pearson r</a:t>
                      </a:r>
                    </a:p>
                  </a:txBody>
                  <a:tcPr marL="91440" marR="91440" marT="45720" marB="45720"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Directional disagreements</a:t>
                      </a:r>
                    </a:p>
                  </a:txBody>
                  <a:tcPr marL="91440" marR="91440" marT="45720" marB="45720">
                    <a:solidFill>
                      <a:srgbClr val="111418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4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Mental health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4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.694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4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.809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4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4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Education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4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.219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4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.756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4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4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Health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4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.060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4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.242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4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foa-meaning">
            <a:extLst xmlns:a="http://schemas.openxmlformats.org/drawingml/2006/main">
              <a:ext uri="{FF2B5EF4-FFF2-40B4-BE49-F238E27FC236}">
                <a16:creationId xmlns:a16="http://schemas.microsoft.com/office/drawing/2014/main" id="{00D5B417-7AA8-45AE-A95D-5C1D0012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33600"/>
            <a:ext cx="336232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foa-meaning-title">
            <a:extLst xmlns:a="http://schemas.openxmlformats.org/drawingml/2006/main">
              <a:ext uri="{FF2B5EF4-FFF2-40B4-BE49-F238E27FC236}">
                <a16:creationId xmlns:a16="http://schemas.microsoft.com/office/drawing/2014/main" id="{0730E4C7-91F0-4FDA-AC9A-95D7E3DE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19350"/>
            <a:ext cx="280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What this supports</a:t>
            </a:r>
          </a:p>
        </p:txBody>
      </p:sp>
      <p:sp>
        <p:nvSpPr>
          <p:cNvPr id="8" name="foa-meaning-body">
            <a:extLst xmlns:a="http://schemas.openxmlformats.org/drawingml/2006/main">
              <a:ext uri="{FF2B5EF4-FFF2-40B4-BE49-F238E27FC236}">
                <a16:creationId xmlns:a16="http://schemas.microsoft.com/office/drawing/2014/main" id="{E39B4CBB-1428-4E28-B5E4-6BF1C1C5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0375"/>
            <a:ext cx="28003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4081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- Separate rater pools reduce criterion contamination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- Disagreements show operational non-identity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- Strong MH and education alignment remains explicit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- Complete discriminant validity is not claimed</a:t>
            </a:r>
          </a:p>
        </p:txBody>
      </p:sp>
      <p:sp>
        <p:nvSpPr>
          <p:cNvPr id="9" name="foa-footer">
            <a:extLst xmlns:a="http://schemas.openxmlformats.org/drawingml/2006/main">
              <a:ext uri="{FF2B5EF4-FFF2-40B4-BE49-F238E27FC236}">
                <a16:creationId xmlns:a16="http://schemas.microsoft.com/office/drawing/2014/main" id="{5309A5AC-6AAC-481A-A174-E395B346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rPr>
              <a:t>Health also contains 33 cases with |F - OA| &gt;= 2, showing that holistic judgments can depart from domain-fit ratings.</a:t>
            </a:r>
          </a:p>
        </p:txBody>
      </p:sp>
    </p:spTree>
    <p:extLst>
      <p:ext uri="{BB962C8B-B14F-4D97-AF65-F5344CB8AC3E}">
        <p14:creationId xmlns:p14="http://schemas.microsoft.com/office/powerpoint/2010/main" val="21246946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5">
            <a:extLst xmlns:a="http://schemas.openxmlformats.org/drawingml/2006/main">
              <a:ext uri="{FF2B5EF4-FFF2-40B4-BE49-F238E27FC236}">
                <a16:creationId xmlns:a16="http://schemas.microsoft.com/office/drawing/2014/main" id="{570C5577-4EF3-496C-83EF-BB9F575C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The predictive pipeline is now reproducible end to end</a:t>
            </a:r>
          </a:p>
        </p:txBody>
      </p:sp>
      <p:sp>
        <p:nvSpPr>
          <p:cNvPr id="2" name="accent-5">
            <a:extLst xmlns:a="http://schemas.openxmlformats.org/drawingml/2006/main">
              <a:ext uri="{FF2B5EF4-FFF2-40B4-BE49-F238E27FC236}">
                <a16:creationId xmlns:a16="http://schemas.microsoft.com/office/drawing/2014/main" id="{B4BF0002-1B5B-4CF5-89AC-F0AFB677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95375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6D8"/>
          </a:solidFill>
          <a:ln xmlns:a="http://schemas.openxmlformats.org/drawingml/2006/main" w="9525">
            <a:solidFill>
              <a:srgbClr val="2376D8"/>
            </a:solidFill>
            <a:prstDash val="solid"/>
          </a:ln>
        </p:spPr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9EC30F9D-8508-44D7-8792-45BA59FA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43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" name="method-value-0">
            <a:extLst xmlns:a="http://schemas.openxmlformats.org/drawingml/2006/main">
              <a:ext uri="{FF2B5EF4-FFF2-40B4-BE49-F238E27FC236}">
                <a16:creationId xmlns:a16="http://schemas.microsoft.com/office/drawing/2014/main" id="{21B765C2-3CFD-4812-9EB5-6DEA3CF8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2343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rPr>
              <a:t>1,490</a:t>
            </a:r>
          </a:p>
        </p:txBody>
      </p:sp>
      <p:sp>
        <p:nvSpPr>
          <p:cNvPr id="5" name="method-label-0">
            <a:extLst xmlns:a="http://schemas.openxmlformats.org/drawingml/2006/main">
              <a:ext uri="{FF2B5EF4-FFF2-40B4-BE49-F238E27FC236}">
                <a16:creationId xmlns:a16="http://schemas.microsoft.com/office/drawing/2014/main" id="{67E4EBE1-CAC6-465F-B3CE-50429B9A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81225"/>
            <a:ext cx="2343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complete responses</a:t>
            </a:r>
          </a:p>
        </p:txBody>
      </p:sp>
      <p:sp>
        <p:nvSpPr>
          <p:cNvPr id="6" name="method-value-1">
            <a:extLst xmlns:a="http://schemas.openxmlformats.org/drawingml/2006/main">
              <a:ext uri="{FF2B5EF4-FFF2-40B4-BE49-F238E27FC236}">
                <a16:creationId xmlns:a16="http://schemas.microsoft.com/office/drawing/2014/main" id="{04D0BEE7-A048-4FF4-95EF-2A4F2FFF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504950"/>
            <a:ext cx="2343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rPr>
              <a:t>499</a:t>
            </a:r>
          </a:p>
        </p:txBody>
      </p:sp>
      <p:sp>
        <p:nvSpPr>
          <p:cNvPr id="7" name="method-label-1">
            <a:extLst xmlns:a="http://schemas.openxmlformats.org/drawingml/2006/main">
              <a:ext uri="{FF2B5EF4-FFF2-40B4-BE49-F238E27FC236}">
                <a16:creationId xmlns:a16="http://schemas.microsoft.com/office/drawing/2014/main" id="{3094BFFD-6423-45B0-BDD4-87994D76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81225"/>
            <a:ext cx="2343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prompt clusters</a:t>
            </a:r>
          </a:p>
        </p:txBody>
      </p:sp>
      <p:sp>
        <p:nvSpPr>
          <p:cNvPr id="8" name="method-value-2">
            <a:extLst xmlns:a="http://schemas.openxmlformats.org/drawingml/2006/main">
              <a:ext uri="{FF2B5EF4-FFF2-40B4-BE49-F238E27FC236}">
                <a16:creationId xmlns:a16="http://schemas.microsoft.com/office/drawing/2014/main" id="{84B63ACD-C1E1-41C1-85FB-CC000508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04950"/>
            <a:ext cx="2343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rPr>
              <a:t>5 x 20</a:t>
            </a:r>
          </a:p>
        </p:txBody>
      </p:sp>
      <p:sp>
        <p:nvSpPr>
          <p:cNvPr id="9" name="method-label-2">
            <a:extLst xmlns:a="http://schemas.openxmlformats.org/drawingml/2006/main">
              <a:ext uri="{FF2B5EF4-FFF2-40B4-BE49-F238E27FC236}">
                <a16:creationId xmlns:a16="http://schemas.microsoft.com/office/drawing/2014/main" id="{0AA7DDFD-C609-48AE-90CA-9E0C8385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81225"/>
            <a:ext cx="2343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grouped CV folds x repeats</a:t>
            </a:r>
          </a:p>
        </p:txBody>
      </p:sp>
      <p:sp>
        <p:nvSpPr>
          <p:cNvPr id="10" name="method-value-3">
            <a:extLst xmlns:a="http://schemas.openxmlformats.org/drawingml/2006/main">
              <a:ext uri="{FF2B5EF4-FFF2-40B4-BE49-F238E27FC236}">
                <a16:creationId xmlns:a16="http://schemas.microsoft.com/office/drawing/2014/main" id="{18F48234-8966-4A84-9B98-628A491A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504950"/>
            <a:ext cx="2343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rPr>
              <a:t>1,000</a:t>
            </a:r>
          </a:p>
        </p:txBody>
      </p:sp>
      <p:sp>
        <p:nvSpPr>
          <p:cNvPr id="11" name="method-label-3">
            <a:extLst xmlns:a="http://schemas.openxmlformats.org/drawingml/2006/main">
              <a:ext uri="{FF2B5EF4-FFF2-40B4-BE49-F238E27FC236}">
                <a16:creationId xmlns:a16="http://schemas.microsoft.com/office/drawing/2014/main" id="{8B82A839-54E7-4095-A2D7-98683692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81225"/>
            <a:ext cx="2343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cluster bootstrap resamples</a:t>
            </a:r>
          </a:p>
        </p:txBody>
      </p:sp>
      <p:sp>
        <p:nvSpPr>
          <p:cNvPr id="12" name="method-divider">
            <a:extLst xmlns:a="http://schemas.openxmlformats.org/drawingml/2006/main">
              <a:ext uri="{FF2B5EF4-FFF2-40B4-BE49-F238E27FC236}">
                <a16:creationId xmlns:a16="http://schemas.microsoft.com/office/drawing/2014/main" id="{CF9B430B-6C7D-4D3B-83E4-E17D598C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003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method-heading-0">
            <a:extLst xmlns:a="http://schemas.openxmlformats.org/drawingml/2006/main">
              <a:ext uri="{FF2B5EF4-FFF2-40B4-BE49-F238E27FC236}">
                <a16:creationId xmlns:a16="http://schemas.microsoft.com/office/drawing/2014/main" id="{08ACC261-664E-407E-BB61-3BA7681A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71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Estimator</a:t>
            </a:r>
          </a:p>
        </p:txBody>
      </p:sp>
      <p:sp>
        <p:nvSpPr>
          <p:cNvPr id="14" name="method-body-0">
            <a:extLst xmlns:a="http://schemas.openxmlformats.org/drawingml/2006/main">
              <a:ext uri="{FF2B5EF4-FFF2-40B4-BE49-F238E27FC236}">
                <a16:creationId xmlns:a16="http://schemas.microsoft.com/office/drawing/2014/main" id="{F682D7E5-43DA-4772-84C7-513463F1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71850"/>
            <a:ext cx="883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OLS with intercept; pooled models add domain indicators.</a:t>
            </a:r>
          </a:p>
        </p:txBody>
      </p:sp>
      <p:sp>
        <p:nvSpPr>
          <p:cNvPr id="15" name="method-heading-1">
            <a:extLst xmlns:a="http://schemas.openxmlformats.org/drawingml/2006/main">
              <a:ext uri="{FF2B5EF4-FFF2-40B4-BE49-F238E27FC236}">
                <a16:creationId xmlns:a16="http://schemas.microsoft.com/office/drawing/2014/main" id="{7CEAEFD5-597D-4E2D-AA7E-D60A8E09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957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Preprocessing</a:t>
            </a:r>
          </a:p>
        </p:txBody>
      </p:sp>
      <p:sp>
        <p:nvSpPr>
          <p:cNvPr id="16" name="method-body-1">
            <a:extLst xmlns:a="http://schemas.openxmlformats.org/drawingml/2006/main">
              <a:ext uri="{FF2B5EF4-FFF2-40B4-BE49-F238E27FC236}">
                <a16:creationId xmlns:a16="http://schemas.microsoft.com/office/drawing/2014/main" id="{202A6943-7916-48DD-B5F0-0814E0A7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95725"/>
            <a:ext cx="883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Recorded scales; no imputation, regularization, feature selection, tuning, or outcome transformation.</a:t>
            </a:r>
          </a:p>
        </p:txBody>
      </p:sp>
      <p:sp>
        <p:nvSpPr>
          <p:cNvPr id="17" name="method-heading-2">
            <a:extLst xmlns:a="http://schemas.openxmlformats.org/drawingml/2006/main">
              <a:ext uri="{FF2B5EF4-FFF2-40B4-BE49-F238E27FC236}">
                <a16:creationId xmlns:a16="http://schemas.microsoft.com/office/drawing/2014/main" id="{9406D064-EA0A-425A-9FBF-2D475A72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19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Grouping</a:t>
            </a:r>
          </a:p>
        </p:txBody>
      </p:sp>
      <p:sp>
        <p:nvSpPr>
          <p:cNvPr id="18" name="method-body-2">
            <a:extLst xmlns:a="http://schemas.openxmlformats.org/drawingml/2006/main">
              <a:ext uri="{FF2B5EF4-FFF2-40B4-BE49-F238E27FC236}">
                <a16:creationId xmlns:a16="http://schemas.microsoft.com/office/drawing/2014/main" id="{6DCA607E-135A-4387-B832-E71D94FE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19600"/>
            <a:ext cx="883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Responses from the same prompt remain together; deterministic seeds 42-61.</a:t>
            </a:r>
          </a:p>
        </p:txBody>
      </p:sp>
      <p:sp>
        <p:nvSpPr>
          <p:cNvPr id="19" name="method-heading-3">
            <a:extLst xmlns:a="http://schemas.openxmlformats.org/drawingml/2006/main">
              <a:ext uri="{FF2B5EF4-FFF2-40B4-BE49-F238E27FC236}">
                <a16:creationId xmlns:a16="http://schemas.microsoft.com/office/drawing/2014/main" id="{A3885146-A40D-4158-9297-D5862704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434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Uncertainty</a:t>
            </a:r>
          </a:p>
        </p:txBody>
      </p:sp>
      <p:sp>
        <p:nvSpPr>
          <p:cNvPr id="20" name="method-body-3">
            <a:extLst xmlns:a="http://schemas.openxmlformats.org/drawingml/2006/main">
              <a:ext uri="{FF2B5EF4-FFF2-40B4-BE49-F238E27FC236}">
                <a16:creationId xmlns:a16="http://schemas.microsoft.com/office/drawing/2014/main" id="{E0D50747-7C97-482A-A5AC-3E2175F4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43475"/>
            <a:ext cx="883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Paired prompt-cluster bootstrap intervals from out-of-fold predictions.</a:t>
            </a:r>
          </a:p>
        </p:txBody>
      </p:sp>
      <p:sp>
        <p:nvSpPr>
          <p:cNvPr id="21" name="method-heading-4">
            <a:extLst xmlns:a="http://schemas.openxmlformats.org/drawingml/2006/main">
              <a:ext uri="{FF2B5EF4-FFF2-40B4-BE49-F238E27FC236}">
                <a16:creationId xmlns:a16="http://schemas.microsoft.com/office/drawing/2014/main" id="{AEDFFFEE-B62B-4402-B7D1-2C127E63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67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Measurement</a:t>
            </a:r>
          </a:p>
        </p:txBody>
      </p:sp>
      <p:sp>
        <p:nvSpPr>
          <p:cNvPr id="22" name="method-body-4">
            <a:extLst xmlns:a="http://schemas.openxmlformats.org/drawingml/2006/main">
              <a:ext uri="{FF2B5EF4-FFF2-40B4-BE49-F238E27FC236}">
                <a16:creationId xmlns:a16="http://schemas.microsoft.com/office/drawing/2014/main" id="{4327FD3C-4948-4086-ACAD-3423DE89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67350"/>
            <a:ext cx="883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Group A rates OA; separate Group B rates E, D, and F.</a:t>
            </a:r>
          </a:p>
        </p:txBody>
      </p:sp>
    </p:spTree>
    <p:extLst>
      <p:ext uri="{BB962C8B-B14F-4D97-AF65-F5344CB8AC3E}">
        <p14:creationId xmlns:p14="http://schemas.microsoft.com/office/powerpoint/2010/main" val="14401469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6">
            <a:extLst xmlns:a="http://schemas.openxmlformats.org/drawingml/2006/main">
              <a:ext uri="{FF2B5EF4-FFF2-40B4-BE49-F238E27FC236}">
                <a16:creationId xmlns:a16="http://schemas.microsoft.com/office/drawing/2014/main" id="{BF12BE70-0079-45B7-A04D-E39EB89C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The paper now reports the generated evidence exactly</a:t>
            </a:r>
          </a:p>
        </p:txBody>
      </p:sp>
      <p:sp>
        <p:nvSpPr>
          <p:cNvPr id="2" name="accent-6">
            <a:extLst xmlns:a="http://schemas.openxmlformats.org/drawingml/2006/main">
              <a:ext uri="{FF2B5EF4-FFF2-40B4-BE49-F238E27FC236}">
                <a16:creationId xmlns:a16="http://schemas.microsoft.com/office/drawing/2014/main" id="{2FC58524-73EA-45E3-9CF4-260196C9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95375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6D8"/>
          </a:solidFill>
          <a:ln xmlns:a="http://schemas.openxmlformats.org/drawingml/2006/main" w="9525">
            <a:solidFill>
              <a:srgbClr val="2376D8"/>
            </a:solidFill>
            <a:prstDash val="solid"/>
          </a:ln>
        </p:spPr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2AECA334-7B6B-4ABE-9FB5-FF14DA32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43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28625" y="1619250"/>
          <a:ext xmlns:a="http://schemas.openxmlformats.org/drawingml/2006/main" cx="75247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1706930e8b497d"/>
          </a:graphicData>
        </a:graphic>
      </p:graphicFrame>
      <p:sp>
        <p:nvSpPr>
          <p:cNvPr id="5" name="evidence-side">
            <a:extLst xmlns:a="http://schemas.openxmlformats.org/drawingml/2006/main">
              <a:ext uri="{FF2B5EF4-FFF2-40B4-BE49-F238E27FC236}">
                <a16:creationId xmlns:a16="http://schemas.microsoft.com/office/drawing/2014/main" id="{65DE15B2-5818-40F1-9D44-3C7CB264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19250"/>
            <a:ext cx="307657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evidence-side-title">
            <a:extLst xmlns:a="http://schemas.openxmlformats.org/drawingml/2006/main">
              <a:ext uri="{FF2B5EF4-FFF2-40B4-BE49-F238E27FC236}">
                <a16:creationId xmlns:a16="http://schemas.microsoft.com/office/drawing/2014/main" id="{52283FF4-8C50-4071-801C-86D35AEB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33575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2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Reporting corrections</a:t>
            </a:r>
          </a:p>
        </p:txBody>
      </p:sp>
      <p:sp>
        <p:nvSpPr>
          <p:cNvPr id="7" name="evidence-reliability">
            <a:extLst xmlns:a="http://schemas.openxmlformats.org/drawingml/2006/main">
              <a:ext uri="{FF2B5EF4-FFF2-40B4-BE49-F238E27FC236}">
                <a16:creationId xmlns:a16="http://schemas.microsoft.com/office/drawing/2014/main" id="{A3EA5A18-B555-4482-B61E-8D0873DE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2890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Health E reliability</a:t>
            </a:r>
          </a:p>
        </p:txBody>
      </p:sp>
      <p:sp>
        <p:nvSpPr>
          <p:cNvPr id="8" name="evidence-icc">
            <a:extLst xmlns:a="http://schemas.openxmlformats.org/drawingml/2006/main">
              <a:ext uri="{FF2B5EF4-FFF2-40B4-BE49-F238E27FC236}">
                <a16:creationId xmlns:a16="http://schemas.microsoft.com/office/drawing/2014/main" id="{E09CD1D0-189B-40CB-BAFF-D3D23463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81325"/>
            <a:ext cx="2524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ICC(A,k)  .939</a:t>
            </a:r>
          </a:p>
        </p:txBody>
      </p:sp>
      <p:sp>
        <p:nvSpPr>
          <p:cNvPr id="9" name="evidence-single">
            <a:extLst xmlns:a="http://schemas.openxmlformats.org/drawingml/2006/main">
              <a:ext uri="{FF2B5EF4-FFF2-40B4-BE49-F238E27FC236}">
                <a16:creationId xmlns:a16="http://schemas.microsoft.com/office/drawing/2014/main" id="{2446E6DA-66A5-4DC2-9E7A-94FF4EA2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57575"/>
            <a:ext cx="2524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ICC(A,1)  .754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Ordinal alpha  .667</a:t>
            </a:r>
          </a:p>
        </p:txBody>
      </p:sp>
      <p:sp>
        <p:nvSpPr>
          <p:cNvPr id="10" name="evidence-side-rule">
            <a:extLst xmlns:a="http://schemas.openxmlformats.org/drawingml/2006/main">
              <a:ext uri="{FF2B5EF4-FFF2-40B4-BE49-F238E27FC236}">
                <a16:creationId xmlns:a16="http://schemas.microsoft.com/office/drawing/2014/main" id="{04E569B1-5C62-43C5-95E1-2BD1E566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33875"/>
            <a:ext cx="2266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evidence-health">
            <a:extLst xmlns:a="http://schemas.openxmlformats.org/drawingml/2006/main">
              <a:ext uri="{FF2B5EF4-FFF2-40B4-BE49-F238E27FC236}">
                <a16:creationId xmlns:a16="http://schemas.microsoft.com/office/drawing/2014/main" id="{ABC35BE9-E8B2-4557-A88B-1302796E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562475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6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56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B56B12"/>
                </a:solidFill>
                <a:latin typeface="Helvetica Neue"/>
                <a:ea typeface="Helvetica Neue"/>
                <a:cs typeface="Helvetica Neue"/>
              </a:rPr>
              <a:t>Health remains exploratory: the gain over H alone is positive, but its interval crosses zero.</a:t>
            </a:r>
          </a:p>
        </p:txBody>
      </p:sp>
    </p:spTree>
    <p:extLst>
      <p:ext uri="{BB962C8B-B14F-4D97-AF65-F5344CB8AC3E}">
        <p14:creationId xmlns:p14="http://schemas.microsoft.com/office/powerpoint/2010/main" val="9715202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7">
            <a:extLst xmlns:a="http://schemas.openxmlformats.org/drawingml/2006/main">
              <a:ext uri="{FF2B5EF4-FFF2-40B4-BE49-F238E27FC236}">
                <a16:creationId xmlns:a16="http://schemas.microsoft.com/office/drawing/2014/main" id="{E3E3D0A4-60CF-4384-920A-220FFCB3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The ethics concern is now resolved with precise scope</a:t>
            </a:r>
          </a:p>
        </p:txBody>
      </p:sp>
      <p:sp>
        <p:nvSpPr>
          <p:cNvPr id="2" name="accent-7">
            <a:extLst xmlns:a="http://schemas.openxmlformats.org/drawingml/2006/main">
              <a:ext uri="{FF2B5EF4-FFF2-40B4-BE49-F238E27FC236}">
                <a16:creationId xmlns:a16="http://schemas.microsoft.com/office/drawing/2014/main" id="{15B706BD-1512-4858-9556-58821F22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95375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6D8"/>
          </a:solidFill>
          <a:ln xmlns:a="http://schemas.openxmlformats.org/drawingml/2006/main" w="9525">
            <a:solidFill>
              <a:srgbClr val="2376D8"/>
            </a:solidFill>
            <a:prstDash val="solid"/>
          </a:ln>
        </p:spPr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AFB5BFEA-D43B-4E81-9568-C2B0BF3A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43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4" name="eirb-label">
            <a:extLst xmlns:a="http://schemas.openxmlformats.org/drawingml/2006/main">
              <a:ext uri="{FF2B5EF4-FFF2-40B4-BE49-F238E27FC236}">
                <a16:creationId xmlns:a16="http://schemas.microsoft.com/office/drawing/2014/main" id="{5AC32742-9D80-4961-B51F-7AF6C597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rPr>
              <a:t>UNIVERSITY EIRB</a:t>
            </a:r>
          </a:p>
        </p:txBody>
      </p:sp>
      <p:sp>
        <p:nvSpPr>
          <p:cNvPr id="5" name="eirb-status">
            <a:extLst xmlns:a="http://schemas.openxmlformats.org/drawingml/2006/main">
              <a:ext uri="{FF2B5EF4-FFF2-40B4-BE49-F238E27FC236}">
                <a16:creationId xmlns:a16="http://schemas.microsoft.com/office/drawing/2014/main" id="{7D078D0F-0F4D-4FC9-8D64-6040F7B7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APPROVED</a:t>
            </a:r>
          </a:p>
        </p:txBody>
      </p:sp>
      <p:sp>
        <p:nvSpPr>
          <p:cNvPr id="6" name="eirb-date">
            <a:extLst xmlns:a="http://schemas.openxmlformats.org/drawingml/2006/main">
              <a:ext uri="{FF2B5EF4-FFF2-40B4-BE49-F238E27FC236}">
                <a16:creationId xmlns:a16="http://schemas.microsoft.com/office/drawing/2014/main" id="{AF7B9E1D-92E3-406C-8CA1-261CB511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337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12 February 2026</a:t>
            </a:r>
          </a:p>
        </p:txBody>
      </p:sp>
      <p:sp>
        <p:nvSpPr>
          <p:cNvPr id="7" name="eirb-scope">
            <a:extLst xmlns:a="http://schemas.openxmlformats.org/drawingml/2006/main">
              <a:ext uri="{FF2B5EF4-FFF2-40B4-BE49-F238E27FC236}">
                <a16:creationId xmlns:a16="http://schemas.microsoft.com/office/drawing/2014/main" id="{C18CE06A-4377-4DF1-A847-FDB026F7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05225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PERSONA is documented as a sub-study within the broader approved parent project.</a:t>
            </a:r>
          </a:p>
        </p:txBody>
      </p:sp>
      <p:sp>
        <p:nvSpPr>
          <p:cNvPr id="8" name="eirb-separator">
            <a:extLst xmlns:a="http://schemas.openxmlformats.org/drawingml/2006/main">
              <a:ext uri="{FF2B5EF4-FFF2-40B4-BE49-F238E27FC236}">
                <a16:creationId xmlns:a16="http://schemas.microsoft.com/office/drawing/2014/main" id="{C5737FEB-DAB7-40ED-9CA3-9C0BC747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543050"/>
            <a:ext cx="285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check-mark-168">
            <a:extLst xmlns:a="http://schemas.openxmlformats.org/drawingml/2006/main">
              <a:ext uri="{FF2B5EF4-FFF2-40B4-BE49-F238E27FC236}">
                <a16:creationId xmlns:a16="http://schemas.microsoft.com/office/drawing/2014/main" id="{8E1FF5BC-86C8-4E7B-8D05-2181F05A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28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5B"/>
          </a:solidFill>
          <a:ln xmlns:a="http://schemas.openxmlformats.org/drawingml/2006/main" w="9525">
            <a:solidFill>
              <a:srgbClr val="167A5B"/>
            </a:solidFill>
            <a:prstDash val="solid"/>
          </a:ln>
        </p:spPr>
      </p:sp>
      <p:sp>
        <p:nvSpPr>
          <p:cNvPr id="10" name="check-label-168">
            <a:extLst xmlns:a="http://schemas.openxmlformats.org/drawingml/2006/main">
              <a:ext uri="{FF2B5EF4-FFF2-40B4-BE49-F238E27FC236}">
                <a16:creationId xmlns:a16="http://schemas.microsoft.com/office/drawing/2014/main" id="{EFFF79C1-84DF-4638-B9D5-293C0F38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81150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Participation</a:t>
            </a:r>
          </a:p>
        </p:txBody>
      </p:sp>
      <p:sp>
        <p:nvSpPr>
          <p:cNvPr id="11" name="check-detail-168">
            <a:extLst xmlns:a="http://schemas.openxmlformats.org/drawingml/2006/main">
              <a:ext uri="{FF2B5EF4-FFF2-40B4-BE49-F238E27FC236}">
                <a16:creationId xmlns:a16="http://schemas.microsoft.com/office/drawing/2014/main" id="{99C87D80-FF76-4A3C-9677-050222B2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66900"/>
            <a:ext cx="3028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Informed consent, voluntary participation, and withdrawal rights documented.</a:t>
            </a:r>
          </a:p>
        </p:txBody>
      </p:sp>
      <p:sp>
        <p:nvSpPr>
          <p:cNvPr id="12" name="check-mark-278">
            <a:extLst xmlns:a="http://schemas.openxmlformats.org/drawingml/2006/main">
              <a:ext uri="{FF2B5EF4-FFF2-40B4-BE49-F238E27FC236}">
                <a16:creationId xmlns:a16="http://schemas.microsoft.com/office/drawing/2014/main" id="{E57C6E7C-1FC8-4D44-8439-F8E7BC2E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765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5B"/>
          </a:solidFill>
          <a:ln xmlns:a="http://schemas.openxmlformats.org/drawingml/2006/main" w="9525">
            <a:solidFill>
              <a:srgbClr val="167A5B"/>
            </a:solidFill>
            <a:prstDash val="solid"/>
          </a:ln>
        </p:spPr>
      </p:sp>
      <p:sp>
        <p:nvSpPr>
          <p:cNvPr id="13" name="check-label-278">
            <a:extLst xmlns:a="http://schemas.openxmlformats.org/drawingml/2006/main">
              <a:ext uri="{FF2B5EF4-FFF2-40B4-BE49-F238E27FC236}">
                <a16:creationId xmlns:a16="http://schemas.microsoft.com/office/drawing/2014/main" id="{752E0710-2ED8-45C0-A878-9247EF2B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28900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Safeguards</a:t>
            </a:r>
          </a:p>
        </p:txBody>
      </p:sp>
      <p:sp>
        <p:nvSpPr>
          <p:cNvPr id="14" name="check-detail-278">
            <a:extLst xmlns:a="http://schemas.openxmlformats.org/drawingml/2006/main">
              <a:ext uri="{FF2B5EF4-FFF2-40B4-BE49-F238E27FC236}">
                <a16:creationId xmlns:a16="http://schemas.microsoft.com/office/drawing/2014/main" id="{6986FAF1-75F0-44C0-B4DE-B92F1A14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3028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48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Sensitive-content warning, self-paced work, breaks, anonymization, and support route documented.</a:t>
            </a:r>
          </a:p>
        </p:txBody>
      </p:sp>
      <p:sp>
        <p:nvSpPr>
          <p:cNvPr id="15" name="check-mark-410">
            <a:extLst xmlns:a="http://schemas.openxmlformats.org/drawingml/2006/main">
              <a:ext uri="{FF2B5EF4-FFF2-40B4-BE49-F238E27FC236}">
                <a16:creationId xmlns:a16="http://schemas.microsoft.com/office/drawing/2014/main" id="{5F27DB8E-63BE-46B3-83A4-A0EE5059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338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5B"/>
          </a:solidFill>
          <a:ln xmlns:a="http://schemas.openxmlformats.org/drawingml/2006/main" w="9525">
            <a:solidFill>
              <a:srgbClr val="167A5B"/>
            </a:solidFill>
            <a:prstDash val="solid"/>
          </a:ln>
        </p:spPr>
      </p:sp>
      <p:sp>
        <p:nvSpPr>
          <p:cNvPr id="16" name="check-label-410">
            <a:extLst xmlns:a="http://schemas.openxmlformats.org/drawingml/2006/main">
              <a:ext uri="{FF2B5EF4-FFF2-40B4-BE49-F238E27FC236}">
                <a16:creationId xmlns:a16="http://schemas.microsoft.com/office/drawing/2014/main" id="{91A37CE0-2179-493F-B15A-B56EE8FC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86200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Independence</a:t>
            </a:r>
          </a:p>
        </p:txBody>
      </p:sp>
      <p:sp>
        <p:nvSpPr>
          <p:cNvPr id="17" name="check-detail-410">
            <a:extLst xmlns:a="http://schemas.openxmlformats.org/drawingml/2006/main">
              <a:ext uri="{FF2B5EF4-FFF2-40B4-BE49-F238E27FC236}">
                <a16:creationId xmlns:a16="http://schemas.microsoft.com/office/drawing/2014/main" id="{D6D8CA15-FC49-4C59-9BE0-3EE2A909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71950"/>
            <a:ext cx="3028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24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Separate rater groups, independent judgments, and AI-use boundaries documented.</a:t>
            </a:r>
          </a:p>
        </p:txBody>
      </p:sp>
      <p:sp>
        <p:nvSpPr>
          <p:cNvPr id="18" name="check-mark-542">
            <a:extLst xmlns:a="http://schemas.openxmlformats.org/drawingml/2006/main">
              <a:ext uri="{FF2B5EF4-FFF2-40B4-BE49-F238E27FC236}">
                <a16:creationId xmlns:a16="http://schemas.microsoft.com/office/drawing/2014/main" id="{4152E3CF-5D00-4BE9-BA2F-000FBE7A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1911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6D8"/>
          </a:solidFill>
          <a:ln xmlns:a="http://schemas.openxmlformats.org/drawingml/2006/main" w="9525">
            <a:solidFill>
              <a:srgbClr val="2376D8"/>
            </a:solidFill>
            <a:prstDash val="solid"/>
          </a:ln>
        </p:spPr>
      </p:sp>
      <p:sp>
        <p:nvSpPr>
          <p:cNvPr id="19" name="check-label-542">
            <a:extLst xmlns:a="http://schemas.openxmlformats.org/drawingml/2006/main">
              <a:ext uri="{FF2B5EF4-FFF2-40B4-BE49-F238E27FC236}">
                <a16:creationId xmlns:a16="http://schemas.microsoft.com/office/drawing/2014/main" id="{83F4EC62-7DA5-4FD6-8D5E-F303E711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43500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Anonymous handling</a:t>
            </a:r>
          </a:p>
        </p:txBody>
      </p:sp>
      <p:sp>
        <p:nvSpPr>
          <p:cNvPr id="20" name="check-detail-542">
            <a:extLst xmlns:a="http://schemas.openxmlformats.org/drawingml/2006/main">
              <a:ext uri="{FF2B5EF4-FFF2-40B4-BE49-F238E27FC236}">
                <a16:creationId xmlns:a16="http://schemas.microsoft.com/office/drawing/2014/main" id="{452ACE41-485F-43E4-9294-79CE2077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429250"/>
            <a:ext cx="3028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1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Signed letter stays private because it contains identities and committee signatures.</a:t>
            </a:r>
          </a:p>
        </p:txBody>
      </p:sp>
    </p:spTree>
    <p:extLst>
      <p:ext uri="{BB962C8B-B14F-4D97-AF65-F5344CB8AC3E}">
        <p14:creationId xmlns:p14="http://schemas.microsoft.com/office/powerpoint/2010/main" val="21212889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8">
            <a:extLst xmlns:a="http://schemas.openxmlformats.org/drawingml/2006/main">
              <a:ext uri="{FF2B5EF4-FFF2-40B4-BE49-F238E27FC236}">
                <a16:creationId xmlns:a16="http://schemas.microsoft.com/office/drawing/2014/main" id="{1F375E62-5D4C-4036-A12A-A0DDCD63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The manuscript now meets CHI length guidance</a:t>
            </a:r>
          </a:p>
        </p:txBody>
      </p:sp>
      <p:sp>
        <p:nvSpPr>
          <p:cNvPr id="2" name="accent-8">
            <a:extLst xmlns:a="http://schemas.openxmlformats.org/drawingml/2006/main">
              <a:ext uri="{FF2B5EF4-FFF2-40B4-BE49-F238E27FC236}">
                <a16:creationId xmlns:a16="http://schemas.microsoft.com/office/drawing/2014/main" id="{D2651725-01A5-41FE-A8A4-5BBD1848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95375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6D8"/>
          </a:solidFill>
          <a:ln xmlns:a="http://schemas.openxmlformats.org/drawingml/2006/main" w="9525">
            <a:solidFill>
              <a:srgbClr val="2376D8"/>
            </a:solidFill>
            <a:prstDash val="solid"/>
          </a:ln>
        </p:spPr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D9A92019-37AC-424A-8C0B-10015EB9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43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4" name="readiness-panel-0">
            <a:extLst xmlns:a="http://schemas.openxmlformats.org/drawingml/2006/main">
              <a:ext uri="{FF2B5EF4-FFF2-40B4-BE49-F238E27FC236}">
                <a16:creationId xmlns:a16="http://schemas.microsoft.com/office/drawing/2014/main" id="{F5187682-0F63-4B7E-9589-B790663B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readiness-stat-0">
            <a:extLst xmlns:a="http://schemas.openxmlformats.org/drawingml/2006/main">
              <a:ext uri="{FF2B5EF4-FFF2-40B4-BE49-F238E27FC236}">
                <a16:creationId xmlns:a16="http://schemas.microsoft.com/office/drawing/2014/main" id="{20931E72-F8F9-40B5-9A15-ACD83965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2705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917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rPr>
              <a:t>6,869</a:t>
            </a:r>
          </a:p>
        </p:txBody>
      </p:sp>
      <p:sp>
        <p:nvSpPr>
          <p:cNvPr id="6" name="readiness-label-0">
            <a:extLst xmlns:a="http://schemas.openxmlformats.org/drawingml/2006/main">
              <a:ext uri="{FF2B5EF4-FFF2-40B4-BE49-F238E27FC236}">
                <a16:creationId xmlns:a16="http://schemas.microsoft.com/office/drawing/2014/main" id="{64758D49-9C92-4FEC-B576-E98BB3FB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TeXcount sum</a:t>
            </a:r>
          </a:p>
        </p:txBody>
      </p:sp>
      <p:sp>
        <p:nvSpPr>
          <p:cNvPr id="7" name="readiness-note-0">
            <a:extLst xmlns:a="http://schemas.openxmlformats.org/drawingml/2006/main">
              <a:ext uri="{FF2B5EF4-FFF2-40B4-BE49-F238E27FC236}">
                <a16:creationId xmlns:a16="http://schemas.microsoft.com/office/drawing/2014/main" id="{ACCE6B64-F1D0-48B7-B8D0-17FDA267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Within the encouraged paper range</a:t>
            </a:r>
          </a:p>
        </p:txBody>
      </p:sp>
      <p:sp>
        <p:nvSpPr>
          <p:cNvPr id="8" name="readiness-panel-1">
            <a:extLst xmlns:a="http://schemas.openxmlformats.org/drawingml/2006/main">
              <a:ext uri="{FF2B5EF4-FFF2-40B4-BE49-F238E27FC236}">
                <a16:creationId xmlns:a16="http://schemas.microsoft.com/office/drawing/2014/main" id="{355F0F54-A1C2-4CE9-8787-5015195D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581150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readiness-stat-1">
            <a:extLst xmlns:a="http://schemas.openxmlformats.org/drawingml/2006/main">
              <a:ext uri="{FF2B5EF4-FFF2-40B4-BE49-F238E27FC236}">
                <a16:creationId xmlns:a16="http://schemas.microsoft.com/office/drawing/2014/main" id="{2AC9F51C-F8EE-4CE5-A3B2-8AADFE52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05000"/>
            <a:ext cx="2705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917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rPr>
              <a:t>137</a:t>
            </a:r>
          </a:p>
        </p:txBody>
      </p:sp>
      <p:sp>
        <p:nvSpPr>
          <p:cNvPr id="10" name="readiness-label-1">
            <a:extLst xmlns:a="http://schemas.openxmlformats.org/drawingml/2006/main">
              <a:ext uri="{FF2B5EF4-FFF2-40B4-BE49-F238E27FC236}">
                <a16:creationId xmlns:a16="http://schemas.microsoft.com/office/drawing/2014/main" id="{B4D801A4-4FD5-428D-ADB4-C6E29D1F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00325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abstract words</a:t>
            </a:r>
          </a:p>
        </p:txBody>
      </p:sp>
      <p:sp>
        <p:nvSpPr>
          <p:cNvPr id="11" name="readiness-note-1">
            <a:extLst xmlns:a="http://schemas.openxmlformats.org/drawingml/2006/main">
              <a:ext uri="{FF2B5EF4-FFF2-40B4-BE49-F238E27FC236}">
                <a16:creationId xmlns:a16="http://schemas.microsoft.com/office/drawing/2014/main" id="{A0349722-9F2D-40B1-B796-E5D8E938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0990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Below the 150-word maximum</a:t>
            </a:r>
          </a:p>
        </p:txBody>
      </p:sp>
      <p:sp>
        <p:nvSpPr>
          <p:cNvPr id="12" name="readiness-panel-2">
            <a:extLst xmlns:a="http://schemas.openxmlformats.org/drawingml/2006/main">
              <a:ext uri="{FF2B5EF4-FFF2-40B4-BE49-F238E27FC236}">
                <a16:creationId xmlns:a16="http://schemas.microsoft.com/office/drawing/2014/main" id="{6A55F8F3-7BDD-4253-BB4F-22C5D2A1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81150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readiness-stat-2">
            <a:extLst xmlns:a="http://schemas.openxmlformats.org/drawingml/2006/main">
              <a:ext uri="{FF2B5EF4-FFF2-40B4-BE49-F238E27FC236}">
                <a16:creationId xmlns:a16="http://schemas.microsoft.com/office/drawing/2014/main" id="{52E480CD-B6DD-4B47-AEF2-54F70734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05000"/>
            <a:ext cx="2705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917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rPr>
              <a:t>35</a:t>
            </a:r>
          </a:p>
        </p:txBody>
      </p:sp>
      <p:sp>
        <p:nvSpPr>
          <p:cNvPr id="14" name="readiness-label-2">
            <a:extLst xmlns:a="http://schemas.openxmlformats.org/drawingml/2006/main">
              <a:ext uri="{FF2B5EF4-FFF2-40B4-BE49-F238E27FC236}">
                <a16:creationId xmlns:a16="http://schemas.microsoft.com/office/drawing/2014/main" id="{9CD42FD1-A928-4B8F-9553-6938E4B4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0325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references</a:t>
            </a:r>
          </a:p>
        </p:txBody>
      </p:sp>
      <p:sp>
        <p:nvSpPr>
          <p:cNvPr id="15" name="readiness-note-2">
            <a:extLst xmlns:a="http://schemas.openxmlformats.org/drawingml/2006/main">
              <a:ext uri="{FF2B5EF4-FFF2-40B4-BE49-F238E27FC236}">
                <a16:creationId xmlns:a16="http://schemas.microsoft.com/office/drawing/2014/main" id="{329A3BA5-8DEB-4674-966B-27D2BC85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0990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Literature foundation retained</a:t>
            </a:r>
          </a:p>
        </p:txBody>
      </p:sp>
      <p:sp>
        <p:nvSpPr>
          <p:cNvPr id="16" name="remaining-title">
            <a:extLst xmlns:a="http://schemas.openxmlformats.org/drawingml/2006/main">
              <a:ext uri="{FF2B5EF4-FFF2-40B4-BE49-F238E27FC236}">
                <a16:creationId xmlns:a16="http://schemas.microsoft.com/office/drawing/2014/main" id="{C06125E8-12AF-495E-A6D5-825FBCB9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386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Remaining before submission</a:t>
            </a:r>
          </a:p>
        </p:txBody>
      </p:sp>
      <p:sp>
        <p:nvSpPr>
          <p:cNvPr id="17" name="remaining-list">
            <a:extLst xmlns:a="http://schemas.openxmlformats.org/drawingml/2006/main">
              <a:ext uri="{FF2B5EF4-FFF2-40B4-BE49-F238E27FC236}">
                <a16:creationId xmlns:a16="http://schemas.microsoft.com/office/drawing/2014/main" id="{7FC358BA-CA25-4CE3-8ADB-A05E6296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1. Audit the anonymous supplementary package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2. Perform final Overleaf layout and line-wrap review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3. Normalize references and add access dates only where records exist</a:t>
            </a:r>
          </a:p>
        </p:txBody>
      </p:sp>
    </p:spTree>
    <p:extLst>
      <p:ext uri="{BB962C8B-B14F-4D97-AF65-F5344CB8AC3E}">
        <p14:creationId xmlns:p14="http://schemas.microsoft.com/office/powerpoint/2010/main" val="14272348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decision-eyebrow">
            <a:extLst xmlns:a="http://schemas.openxmlformats.org/drawingml/2006/main">
              <a:ext uri="{FF2B5EF4-FFF2-40B4-BE49-F238E27FC236}">
                <a16:creationId xmlns:a16="http://schemas.microsoft.com/office/drawing/2014/main" id="{F533180D-DDF7-4EC1-A004-4283055D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rPr>
              <a:t>GUIDANCE REQUESTED</a:t>
            </a:r>
          </a:p>
        </p:txBody>
      </p:sp>
      <p:sp>
        <p:nvSpPr>
          <p:cNvPr id="2" name="decision-title">
            <a:extLst xmlns:a="http://schemas.openxmlformats.org/drawingml/2006/main">
              <a:ext uri="{FF2B5EF4-FFF2-40B4-BE49-F238E27FC236}">
                <a16:creationId xmlns:a16="http://schemas.microsoft.com/office/drawing/2014/main" id="{D0E21B1D-ED5A-4F43-B959-8B84512A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Three decisions will let us freeze the paper</a:t>
            </a:r>
          </a:p>
        </p:txBody>
      </p:sp>
      <p:sp>
        <p:nvSpPr>
          <p:cNvPr id="3" name="decision-num-0">
            <a:extLst xmlns:a="http://schemas.openxmlformats.org/drawingml/2006/main">
              <a:ext uri="{FF2B5EF4-FFF2-40B4-BE49-F238E27FC236}">
                <a16:creationId xmlns:a16="http://schemas.microsoft.com/office/drawing/2014/main" id="{03CBA0CF-BBF1-4400-8F53-B1408310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628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decision-heading-0">
            <a:extLst xmlns:a="http://schemas.openxmlformats.org/drawingml/2006/main">
              <a:ext uri="{FF2B5EF4-FFF2-40B4-BE49-F238E27FC236}">
                <a16:creationId xmlns:a16="http://schemas.microsoft.com/office/drawing/2014/main" id="{57B4EF54-F8B7-4492-ABC6-47D0E00F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71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Positioning</a:t>
            </a:r>
          </a:p>
        </p:txBody>
      </p:sp>
      <p:sp>
        <p:nvSpPr>
          <p:cNvPr id="5" name="decision-body-0">
            <a:extLst xmlns:a="http://schemas.openxmlformats.org/drawingml/2006/main">
              <a:ext uri="{FF2B5EF4-FFF2-40B4-BE49-F238E27FC236}">
                <a16:creationId xmlns:a16="http://schemas.microsoft.com/office/drawing/2014/main" id="{542A6B58-9ECA-4FF0-A90E-09C24EB4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71750"/>
            <a:ext cx="741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Is the contribution correctly framed as a diagnostic measurement framework rather than universal psychometric validation?</a:t>
            </a:r>
          </a:p>
        </p:txBody>
      </p:sp>
      <p:sp>
        <p:nvSpPr>
          <p:cNvPr id="6" name="decision-num-1">
            <a:extLst xmlns:a="http://schemas.openxmlformats.org/drawingml/2006/main">
              <a:ext uri="{FF2B5EF4-FFF2-40B4-BE49-F238E27FC236}">
                <a16:creationId xmlns:a16="http://schemas.microsoft.com/office/drawing/2014/main" id="{AEB6F88D-DC21-4138-B599-4926377C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62350"/>
            <a:ext cx="628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decision-heading-1">
            <a:extLst xmlns:a="http://schemas.openxmlformats.org/drawingml/2006/main">
              <a:ext uri="{FF2B5EF4-FFF2-40B4-BE49-F238E27FC236}">
                <a16:creationId xmlns:a16="http://schemas.microsoft.com/office/drawing/2014/main" id="{76D29A10-BA2C-435D-A67A-17E00518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F versus OA</a:t>
            </a:r>
          </a:p>
        </p:txBody>
      </p:sp>
      <p:sp>
        <p:nvSpPr>
          <p:cNvPr id="8" name="decision-body-1">
            <a:extLst xmlns:a="http://schemas.openxmlformats.org/drawingml/2006/main">
              <a:ext uri="{FF2B5EF4-FFF2-40B4-BE49-F238E27FC236}">
                <a16:creationId xmlns:a16="http://schemas.microsoft.com/office/drawing/2014/main" id="{958A52CE-92C6-48A5-A028-C94E1B4D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62350"/>
            <a:ext cx="741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Is the direct relationship audit and cautious construct-validity language sufficient?</a:t>
            </a:r>
          </a:p>
        </p:txBody>
      </p:sp>
      <p:sp>
        <p:nvSpPr>
          <p:cNvPr id="9" name="decision-num-2">
            <a:extLst xmlns:a="http://schemas.openxmlformats.org/drawingml/2006/main">
              <a:ext uri="{FF2B5EF4-FFF2-40B4-BE49-F238E27FC236}">
                <a16:creationId xmlns:a16="http://schemas.microsoft.com/office/drawing/2014/main" id="{7379684B-2AD5-4652-AD9F-ADE2A987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52950"/>
            <a:ext cx="628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376D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decision-heading-2">
            <a:extLst xmlns:a="http://schemas.openxmlformats.org/drawingml/2006/main">
              <a:ext uri="{FF2B5EF4-FFF2-40B4-BE49-F238E27FC236}">
                <a16:creationId xmlns:a16="http://schemas.microsoft.com/office/drawing/2014/main" id="{675165EF-9BE5-4F91-86B6-B5AD08AF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529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Submission stance</a:t>
            </a:r>
          </a:p>
        </p:txBody>
      </p:sp>
      <p:sp>
        <p:nvSpPr>
          <p:cNvPr id="11" name="decision-body-2">
            <a:extLst xmlns:a="http://schemas.openxmlformats.org/drawingml/2006/main">
              <a:ext uri="{FF2B5EF4-FFF2-40B4-BE49-F238E27FC236}">
                <a16:creationId xmlns:a16="http://schemas.microsoft.com/office/drawing/2014/main" id="{9EF513AC-E5CD-4F14-A8CD-413237AD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52950"/>
            <a:ext cx="741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Can we freeze substantive text after anonymity, references, and layout checks?</a:t>
            </a:r>
          </a:p>
        </p:txBody>
      </p:sp>
      <p:sp>
        <p:nvSpPr>
          <p:cNvPr id="12" name="stance-band">
            <a:extLst xmlns:a="http://schemas.openxmlformats.org/drawingml/2006/main">
              <a:ext uri="{FF2B5EF4-FFF2-40B4-BE49-F238E27FC236}">
                <a16:creationId xmlns:a16="http://schemas.microsoft.com/office/drawing/2014/main" id="{14C20C3B-CD2C-4843-8778-6897CBC6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00725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9525">
            <a:solidFill>
              <a:srgbClr val="111418"/>
            </a:solidFill>
            <a:prstDash val="solid"/>
          </a:ln>
        </p:spPr>
      </p:sp>
      <p:sp>
        <p:nvSpPr>
          <p:cNvPr id="13" name="stance-copy">
            <a:extLst xmlns:a="http://schemas.openxmlformats.org/drawingml/2006/main">
              <a:ext uri="{FF2B5EF4-FFF2-40B4-BE49-F238E27FC236}">
                <a16:creationId xmlns:a16="http://schemas.microsoft.com/office/drawing/2014/main" id="{0D007540-1119-49E2-A7FD-A8FF69A1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Proposed stance: mental health is primary; education is transfer evidence; health remains exploratory.</a:t>
            </a:r>
          </a:p>
        </p:txBody>
      </p:sp>
    </p:spTree>
    <p:extLst>
      <p:ext uri="{BB962C8B-B14F-4D97-AF65-F5344CB8AC3E}">
        <p14:creationId xmlns:p14="http://schemas.microsoft.com/office/powerpoint/2010/main" val="4263030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2026-09-05T16:06:42.2420000Z</dcterms:created>
  <dcterms:modified xsi:type="dcterms:W3CDTF">2026-09-05T16:06:42.2420000Z</dcterms:modified>
</coreProperties>
</file>