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0f04e4b2db4013" /><Relationship Type="http://schemas.openxmlformats.org/officeDocument/2006/relationships/extended-properties" Target="/docProps/app.xml" Id="Rc3c3a6b02c3c439d" /><Relationship Type="http://schemas.openxmlformats.org/officeDocument/2006/relationships/officeDocument" Target="/ppt/presentation.xml" Id="R15067b99b8194a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642cec8c1c422a"/>
  </p:sldMasterIdLst>
  <p:notesMasterIdLst>
    <p:notesMasterId xmlns:r="http://schemas.openxmlformats.org/officeDocument/2006/relationships" r:id="Rce3d5ee78bc84b3b"/>
  </p:notesMasterIdLst>
  <p:sldIdLst>
    <p:sldId xmlns:r="http://schemas.openxmlformats.org/officeDocument/2006/relationships" id="256" r:id="R4d2c408668a14ee9"/>
    <p:sldId xmlns:r="http://schemas.openxmlformats.org/officeDocument/2006/relationships" id="257" r:id="Re69530a2556b4616"/>
    <p:sldId xmlns:r="http://schemas.openxmlformats.org/officeDocument/2006/relationships" id="258" r:id="R67623541197343c1"/>
    <p:sldId xmlns:r="http://schemas.openxmlformats.org/officeDocument/2006/relationships" id="259" r:id="R4c67cc11ca9e45db"/>
    <p:sldId xmlns:r="http://schemas.openxmlformats.org/officeDocument/2006/relationships" id="260" r:id="R46837d95797f4b57"/>
    <p:sldId xmlns:r="http://schemas.openxmlformats.org/officeDocument/2006/relationships" id="261" r:id="Rb26757b4b70146c5"/>
    <p:sldId xmlns:r="http://schemas.openxmlformats.org/officeDocument/2006/relationships" id="262" r:id="R91c82173b9544d07"/>
    <p:sldId xmlns:r="http://schemas.openxmlformats.org/officeDocument/2006/relationships" id="263" r:id="R2a06bdb4cd374f11"/>
    <p:sldId xmlns:r="http://schemas.openxmlformats.org/officeDocument/2006/relationships" id="264" r:id="R61e9e0c2712740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28e76d515c4403" /><Relationship Type="http://schemas.openxmlformats.org/officeDocument/2006/relationships/slideMaster" Target="/ppt/slideMasters/slideMaster1.xml" Id="R70642cec8c1c422a" /><Relationship Type="http://schemas.openxmlformats.org/officeDocument/2006/relationships/notesMaster" Target="/ppt/notesMasters/notesMaster1.xml" Id="Rce3d5ee78bc84b3b" /><Relationship Type="http://schemas.openxmlformats.org/officeDocument/2006/relationships/presProps" Target="/ppt/presProps.xml" Id="R444e9bf3020845e1" /><Relationship Type="http://schemas.openxmlformats.org/officeDocument/2006/relationships/tableStyles" Target="/ppt/tableStyles.xml" Id="R26e061a0775c4953" /><Relationship Type="http://schemas.openxmlformats.org/officeDocument/2006/relationships/slide" Target="/ppt/slides/slide1.xml" Id="R4d2c408668a14ee9" /><Relationship Type="http://schemas.openxmlformats.org/officeDocument/2006/relationships/slide" Target="/ppt/slides/slide2.xml" Id="Re69530a2556b4616" /><Relationship Type="http://schemas.openxmlformats.org/officeDocument/2006/relationships/slide" Target="/ppt/slides/slide3.xml" Id="R67623541197343c1" /><Relationship Type="http://schemas.openxmlformats.org/officeDocument/2006/relationships/slide" Target="/ppt/slides/slide4.xml" Id="R4c67cc11ca9e45db" /><Relationship Type="http://schemas.openxmlformats.org/officeDocument/2006/relationships/slide" Target="/ppt/slides/slide5.xml" Id="R46837d95797f4b57" /><Relationship Type="http://schemas.openxmlformats.org/officeDocument/2006/relationships/slide" Target="/ppt/slides/slide6.xml" Id="Rb26757b4b70146c5" /><Relationship Type="http://schemas.openxmlformats.org/officeDocument/2006/relationships/slide" Target="/ppt/slides/slide7.xml" Id="R91c82173b9544d07" /><Relationship Type="http://schemas.openxmlformats.org/officeDocument/2006/relationships/slide" Target="/ppt/slides/slide8.xml" Id="R2a06bdb4cd374f11" /><Relationship Type="http://schemas.openxmlformats.org/officeDocument/2006/relationships/slide" Target="/ppt/slides/slide9.xml" Id="R61e9e0c2712740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69959e64454e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592e32970c413b" /><Relationship Type="http://schemas.openxmlformats.org/officeDocument/2006/relationships/notesMaster" Target="/ppt/notesMasters/notesMaster1.xml" Id="R666178ba36ca46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533ae5256c4d91" /><Relationship Type="http://schemas.openxmlformats.org/officeDocument/2006/relationships/notesMaster" Target="/ppt/notesMasters/notesMaster1.xml" Id="R455a35d6504948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f9f7a476794123" /><Relationship Type="http://schemas.openxmlformats.org/officeDocument/2006/relationships/notesMaster" Target="/ppt/notesMasters/notesMaster1.xml" Id="R8a1d1a420d9449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79258f0a3241f8" /><Relationship Type="http://schemas.openxmlformats.org/officeDocument/2006/relationships/notesMaster" Target="/ppt/notesMasters/notesMaster1.xml" Id="R26e9cc191cdb41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f2d3cf60b24d41" /><Relationship Type="http://schemas.openxmlformats.org/officeDocument/2006/relationships/notesMaster" Target="/ppt/notesMasters/notesMaster1.xml" Id="R225ce649f0854d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6c13de617a4aec" /><Relationship Type="http://schemas.openxmlformats.org/officeDocument/2006/relationships/notesMaster" Target="/ppt/notesMasters/notesMaster1.xml" Id="R15ab7a64786241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4c47a9abe04d89" /><Relationship Type="http://schemas.openxmlformats.org/officeDocument/2006/relationships/notesMaster" Target="/ppt/notesMasters/notesMaster1.xml" Id="R58738e27927d4d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ecb8099b9346a2" /><Relationship Type="http://schemas.openxmlformats.org/officeDocument/2006/relationships/notesMaster" Target="/ppt/notesMasters/notesMaster1.xml" Id="Rff3e21e8c0854a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b1d33cf69046d6" /><Relationship Type="http://schemas.openxmlformats.org/officeDocument/2006/relationships/notesMaster" Target="/ppt/notesMasters/notesMaster1.xml" Id="Rabf85be8cd6049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Purpose: update the professor on the revision, not re-present the full study.</a:t>
            </a:r>
          </a:p>
          <a:p xmlns:a="http://schemas.openxmlformats.org/drawingml/2006/main">
            <a:r>
              <a:t>Open with the core message: the evidence did not change, but the claims and documentation are now more defensible.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primary manuscript: paper/revised5_shortened.tex</a:t>
            </a:r>
          </a:p>
          <a:p xmlns:a="http://schemas.openxmlformats.org/drawingml/2006/main">
            <a:r>
              <a:t>- Revision record: docs/CONCISE_REBUTTAL.md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map for the discussion.</a:t>
            </a:r>
          </a:p>
          <a:p xmlns:a="http://schemas.openxmlformats.org/drawingml/2006/main">
            <a:r>
              <a:t>Emphasize that revisions concern scientific defensibility and reporting accuracy, not retrofitting the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docs/CONCISE_REBUTTAL.md</a:t>
            </a:r>
          </a:p>
          <a:p xmlns:a="http://schemas.openxmlformats.org/drawingml/2006/main">
            <a:r>
              <a:t>- docs/PAPER_REVISION_CHANGELOG.md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Stress that the paper does not reject human-likeness.</a:t>
            </a:r>
          </a:p>
          <a:p xmlns:a="http://schemas.openxmlformats.org/drawingml/2006/main">
            <a:r>
              <a:t>The revised framing answers the tautology criticism by changing what the comparison is claimed to establish.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paper/revised5_shortened.tex, Abstract and Introduction</a:t>
            </a:r>
          </a:p>
          <a:p xmlns:a="http://schemas.openxmlformats.org/drawingml/2006/main">
            <a:r>
              <a:t>- docs/CONCISE_REBUTTAL.md, Section 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most important construct-validity response.</a:t>
            </a:r>
          </a:p>
          <a:p xmlns:a="http://schemas.openxmlformats.org/drawingml/2006/main">
            <a:r>
              <a:t>Explain that association is expected because fit contributes to appropriateness; the paper now avoids claiming full independence.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analysis/outputs/tables/construct_relationships.csv</a:t>
            </a:r>
          </a:p>
          <a:p xmlns:a="http://schemas.openxmlformats.org/drawingml/2006/main">
            <a:r>
              <a:t>- analysis/outputs/tables/f_oa_disagreement.csv</a:t>
            </a:r>
          </a:p>
          <a:p xmlns:a="http://schemas.openxmlformats.org/drawingml/2006/main">
            <a:r>
              <a:t>- paper/revised5_shortened.tex, Construct Relationship Audit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addresses the reproducibility criticism directly.</a:t>
            </a:r>
          </a:p>
          <a:p xmlns:a="http://schemas.openxmlformats.org/drawingml/2006/main">
            <a:r>
              <a:t>Point out that the response counts and prompt clusters were reconciled without changing analysis-used values.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paper/revised5_shortened.tex, Analysis Plan</a:t>
            </a:r>
          </a:p>
          <a:p xmlns:a="http://schemas.openxmlformats.org/drawingml/2006/main">
            <a:r>
              <a:t>- analysis/outputs/reports/predictive.md</a:t>
            </a:r>
          </a:p>
          <a:p xmlns:a="http://schemas.openxmlformats.org/drawingml/2006/main">
            <a:r>
              <a:t>- docs/CONCISE_REBUTTAL.md, Section 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chart shows why the central claim survives the stricter framing.</a:t>
            </a:r>
          </a:p>
          <a:p xmlns:a="http://schemas.openxmlformats.org/drawingml/2006/main">
            <a:r>
              <a:t>Call out that corrected reliability values came directly from the generated table, not a new calculation.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analysis/outputs/tables/cv_performance.csv</a:t>
            </a:r>
          </a:p>
          <a:p xmlns:a="http://schemas.openxmlformats.org/drawingml/2006/main">
            <a:r>
              <a:t>- analysis/outputs/tables/reliability.csv</a:t>
            </a:r>
          </a:p>
          <a:p xmlns:a="http://schemas.openxmlformats.org/drawingml/2006/main">
            <a:r>
              <a:t>- paper/revised5_shortened.tex, Results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precise: the approval letter names the parent project, and the team confirms PERSONA is within that scope.</a:t>
            </a:r>
          </a:p>
          <a:p xmlns:a="http://schemas.openxmlformats.org/drawingml/2006/main">
            <a:r>
              <a:t>Do not circulate the unredacted signed letter in anonymous submission materials.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Signed ITU EIRB approval letter dated 12 February 2026 (private study record)</a:t>
            </a:r>
          </a:p>
          <a:p xmlns:a="http://schemas.openxmlformats.org/drawingml/2006/main">
            <a:r>
              <a:t>- docs/ETHICS_AND_ANNOTATOR_PROVENANCE.md</a:t>
            </a:r>
          </a:p>
          <a:p xmlns:a="http://schemas.openxmlformats.org/drawingml/2006/main">
            <a:r>
              <a:t>- paper/revised5_shortened.tex, Ethics and Participant Protections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newest primary file is the revised5 shortened draft with the EIRB statement merged.</a:t>
            </a:r>
          </a:p>
          <a:p xmlns:a="http://schemas.openxmlformats.org/drawingml/2006/main">
            <a:r>
              <a:t>The page count is not itself a compliance problem; the official Papers call encourages 5,000-8,000 words excluding references, captions, and appendices.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</a:t>
            </a:r>
          </a:p>
          <a:p xmlns:a="http://schemas.openxmlformats.org/drawingml/2006/main">
            <a:r>
              <a:t>- https://chi2027.acm.org/authors/papers/</a:t>
            </a:r>
          </a:p>
          <a:p xmlns:a="http://schemas.openxmlformats.org/drawingml/2006/main">
            <a:r>
              <a:t>- https://chi2027.acm.org/chi-publication-formats/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explicit questions rather than a generic thank-you.</a:t>
            </a:r>
          </a:p>
          <a:p xmlns:a="http://schemas.openxmlformats.org/drawingml/2006/main">
            <a:r>
              <a:t>If the professor agrees with these three points, only editorial and anonymization work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docs/CONCISE_REBUTTAL.md</a:t>
            </a:r>
          </a:p>
          <a:p xmlns:a="http://schemas.openxmlformats.org/drawingml/2006/main">
            <a:r>
              <a:t>- docs/PAPER_TODOS.md</a:t>
            </a:r>
          </a:p>
          <a:p xmlns:a="http://schemas.openxmlformats.org/drawingml/2006/main">
            <a:r>
              <a:t>- paper/revised5_shortened.tex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d36412b5df40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905cfe40264716" /><Relationship Type="http://schemas.openxmlformats.org/officeDocument/2006/relationships/slideLayout" Target="/ppt/slideLayouts/slideLayout1.xml" Id="Rb2bf690669354c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bf690669354c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19b61234e40fc" /><Relationship Type="http://schemas.openxmlformats.org/officeDocument/2006/relationships/notesSlide" Target="/ppt/notesSlides/notesSlide1.xml" Id="Rcbd006616cd24f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08e6ab46c459c" /><Relationship Type="http://schemas.openxmlformats.org/officeDocument/2006/relationships/notesSlide" Target="/ppt/notesSlides/notesSlide2.xml" Id="R8004bcbcd27e4e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bd96a2cc94f72" /><Relationship Type="http://schemas.openxmlformats.org/officeDocument/2006/relationships/notesSlide" Target="/ppt/notesSlides/notesSlide3.xml" Id="R33718c0cca7d4d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3280f45424315" /><Relationship Type="http://schemas.openxmlformats.org/officeDocument/2006/relationships/notesSlide" Target="/ppt/notesSlides/notesSlide4.xml" Id="R9d40f2060d1f4d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adb15f4364daf" /><Relationship Type="http://schemas.openxmlformats.org/officeDocument/2006/relationships/notesSlide" Target="/ppt/notesSlides/notesSlide5.xml" Id="R881ed9122b0d46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3ea648a4b4be8" /><Relationship Type="http://schemas.openxmlformats.org/officeDocument/2006/relationships/chart" Target="/ppt/slides/charts/chart1.xml" Id="Rb8724a6d986c49dd" /><Relationship Type="http://schemas.openxmlformats.org/officeDocument/2006/relationships/notesSlide" Target="/ppt/notesSlides/notesSlide6.xml" Id="Rfd3424aed9ca45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16066a5bc445f" /><Relationship Type="http://schemas.openxmlformats.org/officeDocument/2006/relationships/notesSlide" Target="/ppt/notesSlides/notesSlide7.xml" Id="R3934f10b327947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8117d694f47fd" /><Relationship Type="http://schemas.openxmlformats.org/officeDocument/2006/relationships/notesSlide" Target="/ppt/notesSlides/notesSlide8.xml" Id="R8df798ae07d145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6e73dff974132" /><Relationship Type="http://schemas.openxmlformats.org/officeDocument/2006/relationships/notesSlide" Target="/ppt/notesSlides/notesSlide9.xml" Id="Rd7aa00e4ed574456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 only</c:v>
          </c:tx>
          <c:spPr>
            <a:solidFill xmlns:a="http://schemas.openxmlformats.org/drawingml/2006/main">
              <a:srgbClr val="65C7EA"/>
            </a:solidFill>
          </c:spPr>
          <c:invertIfNegative val="0"/>
          <c:cat>
            <c:strLit>
              <c:ptCount val="4"/>
              <c:pt idx="0">
                <c:v>Mental health</c:v>
              </c:pt>
              <c:pt idx="1">
                <c:v>Education</c:v>
              </c:pt>
              <c:pt idx="2">
                <c:v>Health</c:v>
              </c:pt>
              <c:pt idx="3">
                <c:v>Pooled</c:v>
              </c:pt>
            </c:strLit>
          </c:cat>
          <c:val>
            <c:numLit>
              <c:formatCode>0.000</c:formatCode>
              <c:ptCount val="4"/>
              <c:pt idx="0">
                <c:v>0.026</c:v>
              </c:pt>
              <c:pt idx="1">
                <c:v>0.099</c:v>
              </c:pt>
              <c:pt idx="2">
                <c:v>-0.007</c:v>
              </c:pt>
              <c:pt idx="3">
                <c:v>0.221</c:v>
              </c:pt>
            </c:numLit>
          </c:val>
        </c:ser>
        <c:ser>
          <c:idx val="1"/>
          <c:order val="1"/>
          <c:tx>
            <c:v>Full profile</c:v>
          </c:tx>
          <c:spPr>
            <a:solidFill xmlns:a="http://schemas.openxmlformats.org/drawingml/2006/main">
              <a:srgbClr val="2376D8"/>
            </a:solidFill>
          </c:spPr>
          <c:cat>
            <c:strLit>
              <c:ptCount val="4"/>
              <c:pt idx="0">
                <c:v>Mental health</c:v>
              </c:pt>
              <c:pt idx="1">
                <c:v>Education</c:v>
              </c:pt>
              <c:pt idx="2">
                <c:v>Health</c:v>
              </c:pt>
              <c:pt idx="3">
                <c:v>Pooled</c:v>
              </c:pt>
            </c:strLit>
          </c:cat>
          <c:val>
            <c:numLit>
              <c:formatCode>0.000</c:formatCode>
              <c:ptCount val="4"/>
              <c:pt idx="0">
                <c:v>0.659</c:v>
              </c:pt>
              <c:pt idx="1">
                <c:v>0.562</c:v>
              </c:pt>
              <c:pt idx="2">
                <c:v>0.256</c:v>
              </c:pt>
              <c:pt idx="3">
                <c:v>0.499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114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C667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8"/>
          <c:min val="-0.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1E5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C6673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C667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E0EDF0B-A79D-4F90-A570-991E5852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"/>
            <a:ext cx="647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PERSONA | MANUSCRIPT REVISION UPDATE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BD33831-AB2E-4842-9BCA-F3D47306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10096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What changed - and why the paper is stronger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BFC596C2-E74E-4894-A323-0E9FDA1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29075"/>
            <a:ext cx="2952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6ACC5DC-159A-40F8-A911-90B85890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148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Professor review discussion</a:t>
            </a:r>
          </a:p>
          <a:p xmlns:a="http://schemas.openxmlformats.org/drawingml/2006/main">
            <a:pPr algn="l">
              <a:def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 September 2026</a:t>
            </a:r>
          </a:p>
        </p:txBody>
      </p:sp>
      <p:sp>
        <p:nvSpPr>
          <p:cNvPr id="5" name="cover-context">
            <a:extLst xmlns:a="http://schemas.openxmlformats.org/drawingml/2006/main">
              <a:ext uri="{FF2B5EF4-FFF2-40B4-BE49-F238E27FC236}">
                <a16:creationId xmlns:a16="http://schemas.microsoft.com/office/drawing/2014/main" id="{32064A3E-E9FE-4F08-AAD4-6E744F3F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019675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Focus: recent theoretical, methodological, ethics, and submission-readiness revisions</a:t>
            </a:r>
          </a:p>
        </p:txBody>
      </p:sp>
    </p:spTree>
    <p:extLst>
      <p:ext uri="{BB962C8B-B14F-4D97-AF65-F5344CB8AC3E}">
        <p14:creationId xmlns:p14="http://schemas.microsoft.com/office/powerpoint/2010/main" val="6292781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2">
            <a:extLst xmlns:a="http://schemas.openxmlformats.org/drawingml/2006/main">
              <a:ext uri="{FF2B5EF4-FFF2-40B4-BE49-F238E27FC236}">
                <a16:creationId xmlns:a16="http://schemas.microsoft.com/office/drawing/2014/main" id="{09E6A92D-967A-4FAE-8F15-9A6B3DAC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revision addressed four reviewer-facing risks</a:t>
            </a:r>
          </a:p>
        </p:txBody>
      </p:sp>
      <p:sp>
        <p:nvSpPr>
          <p:cNvPr id="2" name="accent-2">
            <a:extLst xmlns:a="http://schemas.openxmlformats.org/drawingml/2006/main">
              <a:ext uri="{FF2B5EF4-FFF2-40B4-BE49-F238E27FC236}">
                <a16:creationId xmlns:a16="http://schemas.microsoft.com/office/drawing/2014/main" id="{8BABCD4C-86AF-422F-BF0A-A2F600BE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4D597E77-9E67-4C0D-A14D-51A5B335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risk-num-0">
            <a:extLst xmlns:a="http://schemas.openxmlformats.org/drawingml/2006/main">
              <a:ext uri="{FF2B5EF4-FFF2-40B4-BE49-F238E27FC236}">
                <a16:creationId xmlns:a16="http://schemas.microsoft.com/office/drawing/2014/main" id="{244D8E64-2C0B-4038-9880-A87BC282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9D224662-8D20-43FC-BBBE-9C55D187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Claims</a:t>
            </a:r>
          </a:p>
        </p:txBody>
      </p:sp>
      <p:sp>
        <p:nvSpPr>
          <p:cNvPr id="6" name="risk-body-0">
            <a:extLst xmlns:a="http://schemas.openxmlformats.org/drawingml/2006/main">
              <a:ext uri="{FF2B5EF4-FFF2-40B4-BE49-F238E27FC236}">
                <a16:creationId xmlns:a16="http://schemas.microsoft.com/office/drawing/2014/main" id="{DF3C15A8-3D78-43D6-B1FE-CB67A89D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Narrowed the contribution without weakening the central argument.</a:t>
            </a:r>
          </a:p>
        </p:txBody>
      </p:sp>
      <p:sp>
        <p:nvSpPr>
          <p:cNvPr id="7" name="risk-num-1">
            <a:extLst xmlns:a="http://schemas.openxmlformats.org/drawingml/2006/main">
              <a:ext uri="{FF2B5EF4-FFF2-40B4-BE49-F238E27FC236}">
                <a16:creationId xmlns:a16="http://schemas.microsoft.com/office/drawing/2014/main" id="{8D6C0AB7-F9DE-470E-91C3-D6DB6D7C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CBA35C49-F5A5-447F-B80E-CE3F1CC3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Construct validity</a:t>
            </a:r>
          </a:p>
        </p:txBody>
      </p:sp>
      <p:sp>
        <p:nvSpPr>
          <p:cNvPr id="9" name="risk-body-1">
            <a:extLst xmlns:a="http://schemas.openxmlformats.org/drawingml/2006/main">
              <a:ext uri="{FF2B5EF4-FFF2-40B4-BE49-F238E27FC236}">
                <a16:creationId xmlns:a16="http://schemas.microsoft.com/office/drawing/2014/main" id="{4D9C500E-C2C5-4A27-A425-ADBA807B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Audited contextual fit versus overall appropriateness directly.</a:t>
            </a:r>
          </a:p>
        </p:txBody>
      </p:sp>
      <p:sp>
        <p:nvSpPr>
          <p:cNvPr id="10" name="risk-num-2">
            <a:extLst xmlns:a="http://schemas.openxmlformats.org/drawingml/2006/main">
              <a:ext uri="{FF2B5EF4-FFF2-40B4-BE49-F238E27FC236}">
                <a16:creationId xmlns:a16="http://schemas.microsoft.com/office/drawing/2014/main" id="{E52E7CDA-3BD4-43A2-943D-53E82076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528A1F06-0DD0-4712-AB5F-02ACF694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174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Methods and reporting</a:t>
            </a:r>
          </a:p>
        </p:txBody>
      </p:sp>
      <p:sp>
        <p:nvSpPr>
          <p:cNvPr id="12" name="risk-body-2">
            <a:extLst xmlns:a="http://schemas.openxmlformats.org/drawingml/2006/main">
              <a:ext uri="{FF2B5EF4-FFF2-40B4-BE49-F238E27FC236}">
                <a16:creationId xmlns:a16="http://schemas.microsoft.com/office/drawing/2014/main" id="{4D6DB2C0-C38F-42C1-9D00-5E1802BE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Specified the pipeline and reconciled every reported number.</a:t>
            </a:r>
          </a:p>
        </p:txBody>
      </p:sp>
      <p:sp>
        <p:nvSpPr>
          <p:cNvPr id="13" name="risk-num-3">
            <a:extLst xmlns:a="http://schemas.openxmlformats.org/drawingml/2006/main">
              <a:ext uri="{FF2B5EF4-FFF2-40B4-BE49-F238E27FC236}">
                <a16:creationId xmlns:a16="http://schemas.microsoft.com/office/drawing/2014/main" id="{B594DEA5-5EB3-446E-9084-9B52FD88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DBB8E047-F5F4-4688-A6AA-7B3AEC0F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262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Ethics and compliance</a:t>
            </a:r>
          </a:p>
        </p:txBody>
      </p:sp>
      <p:sp>
        <p:nvSpPr>
          <p:cNvPr id="15" name="risk-body-3">
            <a:extLst xmlns:a="http://schemas.openxmlformats.org/drawingml/2006/main">
              <a:ext uri="{FF2B5EF4-FFF2-40B4-BE49-F238E27FC236}">
                <a16:creationId xmlns:a16="http://schemas.microsoft.com/office/drawing/2014/main" id="{3BC271BC-F2E4-40B3-B5A5-748C0F6F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Added EIRB status, participant protections, and CHI checks.</a:t>
            </a:r>
          </a:p>
        </p:txBody>
      </p:sp>
      <p:sp>
        <p:nvSpPr>
          <p:cNvPr id="16" name="unchanged-band">
            <a:extLst xmlns:a="http://schemas.openxmlformats.org/drawingml/2006/main">
              <a:ext uri="{FF2B5EF4-FFF2-40B4-BE49-F238E27FC236}">
                <a16:creationId xmlns:a16="http://schemas.microsoft.com/office/drawing/2014/main" id="{1BFC01DB-6968-4770-A4DF-8E773D54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0820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unchanged-copy">
            <a:extLst xmlns:a="http://schemas.openxmlformats.org/drawingml/2006/main">
              <a:ext uri="{FF2B5EF4-FFF2-40B4-BE49-F238E27FC236}">
                <a16:creationId xmlns:a16="http://schemas.microsoft.com/office/drawing/2014/main" id="{9534E984-38BF-4AF2-B3DA-C8B85E3B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32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317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No dataset, annotation, model, fold, confidence interval, headline result, table, or figure was selectively changed.</a:t>
            </a:r>
          </a:p>
        </p:txBody>
      </p:sp>
    </p:spTree>
    <p:extLst>
      <p:ext uri="{BB962C8B-B14F-4D97-AF65-F5344CB8AC3E}">
        <p14:creationId xmlns:p14="http://schemas.microsoft.com/office/powerpoint/2010/main" val="21047798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3">
            <a:extLst xmlns:a="http://schemas.openxmlformats.org/drawingml/2006/main">
              <a:ext uri="{FF2B5EF4-FFF2-40B4-BE49-F238E27FC236}">
                <a16:creationId xmlns:a16="http://schemas.microsoft.com/office/drawing/2014/main" id="{A7AC0AB6-99D7-4641-8137-CF8E9177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core claim is now narrower - and more defensible</a:t>
            </a:r>
          </a:p>
        </p:txBody>
      </p:sp>
      <p:sp>
        <p:nvSpPr>
          <p:cNvPr id="2" name="accent-3">
            <a:extLst xmlns:a="http://schemas.openxmlformats.org/drawingml/2006/main">
              <a:ext uri="{FF2B5EF4-FFF2-40B4-BE49-F238E27FC236}">
                <a16:creationId xmlns:a16="http://schemas.microsoft.com/office/drawing/2014/main" id="{CDEF4872-A8AB-4803-8373-F158AE6F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D9A8F315-D54C-4DD0-9537-A7A65FAD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583D950-5A5E-4874-A43B-2907C079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525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443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A7443E"/>
                </a:solidFill>
                <a:latin typeface="Helvetica Neue"/>
                <a:ea typeface="Helvetica Neue"/>
                <a:cs typeface="Helvetica Neue"/>
              </a:rPr>
              <a:t>EARLIER RISK</a:t>
            </a:r>
          </a:p>
        </p:txBody>
      </p:sp>
      <p:sp>
        <p:nvSpPr>
          <p:cNvPr id="5" name="after-label">
            <a:extLst xmlns:a="http://schemas.openxmlformats.org/drawingml/2006/main">
              <a:ext uri="{FF2B5EF4-FFF2-40B4-BE49-F238E27FC236}">
                <a16:creationId xmlns:a16="http://schemas.microsoft.com/office/drawing/2014/main" id="{EB98EDCC-33EB-4C8D-AC69-485A92D2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525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A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67A5B"/>
                </a:solidFill>
                <a:latin typeface="Helvetica Neue"/>
                <a:ea typeface="Helvetica Neue"/>
                <a:cs typeface="Helvetica Neue"/>
              </a:rPr>
              <a:t>CURRENT POSITION</a:t>
            </a:r>
          </a:p>
        </p:txBody>
      </p:sp>
      <p:sp>
        <p:nvSpPr>
          <p:cNvPr id="6" name="before-panel">
            <a:extLst xmlns:a="http://schemas.openxmlformats.org/drawingml/2006/main">
              <a:ext uri="{FF2B5EF4-FFF2-40B4-BE49-F238E27FC236}">
                <a16:creationId xmlns:a16="http://schemas.microsoft.com/office/drawing/2014/main" id="{C4C3D909-D168-4BA7-B95A-56F664A8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52197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EEE"/>
          </a:solidFill>
          <a:ln xmlns:a="http://schemas.openxmlformats.org/drawingml/2006/main" w="9525">
            <a:solidFill>
              <a:srgbClr val="E2C3C0"/>
            </a:solidFill>
            <a:prstDash val="solid"/>
          </a:ln>
        </p:spPr>
      </p:sp>
      <p:sp>
        <p:nvSpPr>
          <p:cNvPr id="7" name="after-panel">
            <a:extLst xmlns:a="http://schemas.openxmlformats.org/drawingml/2006/main">
              <a:ext uri="{FF2B5EF4-FFF2-40B4-BE49-F238E27FC236}">
                <a16:creationId xmlns:a16="http://schemas.microsoft.com/office/drawing/2014/main" id="{501784B2-D0CD-490C-94BA-50C12AD7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48387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7F3"/>
          </a:solidFill>
          <a:ln xmlns:a="http://schemas.openxmlformats.org/drawingml/2006/main" w="9525">
            <a:solidFill>
              <a:srgbClr val="B9DACC"/>
            </a:solidFill>
            <a:prstDash val="solid"/>
          </a:ln>
        </p:spPr>
      </p:sp>
      <p:sp>
        <p:nvSpPr>
          <p:cNvPr id="8" name="before-quote">
            <a:extLst xmlns:a="http://schemas.openxmlformats.org/drawingml/2006/main">
              <a:ext uri="{FF2B5EF4-FFF2-40B4-BE49-F238E27FC236}">
                <a16:creationId xmlns:a16="http://schemas.microsoft.com/office/drawing/2014/main" id="{6DAE8AED-9D0D-4D05-8B75-CB8CE621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4648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684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"The full profile improves prediction and validates PERSONA."</a:t>
            </a:r>
          </a:p>
        </p:txBody>
      </p:sp>
      <p:sp>
        <p:nvSpPr>
          <p:cNvPr id="9" name="before-detail">
            <a:extLst xmlns:a="http://schemas.openxmlformats.org/drawingml/2006/main">
              <a:ext uri="{FF2B5EF4-FFF2-40B4-BE49-F238E27FC236}">
                <a16:creationId xmlns:a16="http://schemas.microsoft.com/office/drawing/2014/main" id="{49798802-3E18-4D0A-BA25-01664618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648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Could sound tautological because the richer model includes dimensions designed to relate to appropriateness.</a:t>
            </a:r>
          </a:p>
        </p:txBody>
      </p:sp>
      <p:sp>
        <p:nvSpPr>
          <p:cNvPr id="10" name="after-quote">
            <a:extLst xmlns:a="http://schemas.openxmlformats.org/drawingml/2006/main">
              <a:ext uri="{FF2B5EF4-FFF2-40B4-BE49-F238E27FC236}">
                <a16:creationId xmlns:a16="http://schemas.microsoft.com/office/drawing/2014/main" id="{36E101FC-39B0-4DF2-A7F2-10592B8D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267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Human-likeness is useful, but insufficient on its own.</a:t>
            </a:r>
          </a:p>
        </p:txBody>
      </p:sp>
      <p:sp>
        <p:nvSpPr>
          <p:cNvPr id="11" name="after-detail">
            <a:extLst xmlns:a="http://schemas.openxmlformats.org/drawingml/2006/main">
              <a:ext uri="{FF2B5EF4-FFF2-40B4-BE49-F238E27FC236}">
                <a16:creationId xmlns:a16="http://schemas.microsoft.com/office/drawing/2014/main" id="{BE92C44A-EA9D-4DE9-B2BB-23749A2E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05200"/>
            <a:ext cx="4267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The profile quantifies OA-associated information omitted by H alone and diagnoses which dimensions carry that information by domain.</a:t>
            </a:r>
          </a:p>
        </p:txBody>
      </p:sp>
      <p:sp>
        <p:nvSpPr>
          <p:cNvPr id="12" name="nonclaim">
            <a:extLst xmlns:a="http://schemas.openxmlformats.org/drawingml/2006/main">
              <a:ext uri="{FF2B5EF4-FFF2-40B4-BE49-F238E27FC236}">
                <a16:creationId xmlns:a16="http://schemas.microsoft.com/office/drawing/2014/main" id="{BFF3FE51-BABF-4D30-8EC3-DC873AFC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340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343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Not claimed: universal superiority, causal validity, or a fully validated psychometric instrument.</a:t>
            </a:r>
          </a:p>
        </p:txBody>
      </p:sp>
    </p:spTree>
    <p:extLst>
      <p:ext uri="{BB962C8B-B14F-4D97-AF65-F5344CB8AC3E}">
        <p14:creationId xmlns:p14="http://schemas.microsoft.com/office/powerpoint/2010/main" val="9756497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4">
            <a:extLst xmlns:a="http://schemas.openxmlformats.org/drawingml/2006/main">
              <a:ext uri="{FF2B5EF4-FFF2-40B4-BE49-F238E27FC236}">
                <a16:creationId xmlns:a16="http://schemas.microsoft.com/office/drawing/2014/main" id="{FA0B10DC-D94F-4F42-A2E8-A252112A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F and OA are now tested directly</a:t>
            </a:r>
          </a:p>
        </p:txBody>
      </p:sp>
      <p:sp>
        <p:nvSpPr>
          <p:cNvPr id="2" name="accent-4">
            <a:extLst xmlns:a="http://schemas.openxmlformats.org/drawingml/2006/main">
              <a:ext uri="{FF2B5EF4-FFF2-40B4-BE49-F238E27FC236}">
                <a16:creationId xmlns:a16="http://schemas.microsoft.com/office/drawing/2014/main" id="{D588F7DA-EECD-4733-86B7-2C465A69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6E118536-5B91-4B92-A423-6D689B86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foa-intro">
            <a:extLst xmlns:a="http://schemas.openxmlformats.org/drawingml/2006/main">
              <a:ext uri="{FF2B5EF4-FFF2-40B4-BE49-F238E27FC236}">
                <a16:creationId xmlns:a16="http://schemas.microsoft.com/office/drawing/2014/main" id="{BC9D30EE-B679-4E33-A996-181978F2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049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Contextual fit is narrower than holistic appropriateness. The audit reports both alignment and concrete disagreement.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495300" y="2133600"/>
          <a:ext xmlns:a="http://schemas.openxmlformats.org/drawingml/2006/main" cx="7000875" cy="27813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47875"/>
                <a:gridCol w="1619250"/>
                <a:gridCol w="1619250"/>
                <a:gridCol w="1714500"/>
              </a:tblGrid>
              <a:tr h="6953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Domain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Spearman rho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Pearson r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Directional disagreements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Mental health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.694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.809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1440" marR="91440" marT="45720" marB="45720"/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Education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.219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.756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1440" marR="91440" marT="45720" marB="45720"/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Health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.060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.242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43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foa-meaning">
            <a:extLst xmlns:a="http://schemas.openxmlformats.org/drawingml/2006/main">
              <a:ext uri="{FF2B5EF4-FFF2-40B4-BE49-F238E27FC236}">
                <a16:creationId xmlns:a16="http://schemas.microsoft.com/office/drawing/2014/main" id="{4CED58E4-7031-4293-B9C9-41015B48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33600"/>
            <a:ext cx="33623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foa-meaning-title">
            <a:extLst xmlns:a="http://schemas.openxmlformats.org/drawingml/2006/main">
              <a:ext uri="{FF2B5EF4-FFF2-40B4-BE49-F238E27FC236}">
                <a16:creationId xmlns:a16="http://schemas.microsoft.com/office/drawing/2014/main" id="{F87990F0-F826-4D69-8678-2466AB17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What this supports</a:t>
            </a:r>
          </a:p>
        </p:txBody>
      </p:sp>
      <p:sp>
        <p:nvSpPr>
          <p:cNvPr id="8" name="foa-meaning-body">
            <a:extLst xmlns:a="http://schemas.openxmlformats.org/drawingml/2006/main">
              <a:ext uri="{FF2B5EF4-FFF2-40B4-BE49-F238E27FC236}">
                <a16:creationId xmlns:a16="http://schemas.microsoft.com/office/drawing/2014/main" id="{805D596F-8450-423A-9753-AB3FADDB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0375"/>
            <a:ext cx="28003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4081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Separate rater pools reduce criterion contamination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Disagreements show operational non-identity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Strong MH and education alignment remains explicit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Complete discriminant validity is not claimed</a:t>
            </a:r>
          </a:p>
        </p:txBody>
      </p:sp>
      <p:sp>
        <p:nvSpPr>
          <p:cNvPr id="9" name="foa-footer">
            <a:extLst xmlns:a="http://schemas.openxmlformats.org/drawingml/2006/main">
              <a:ext uri="{FF2B5EF4-FFF2-40B4-BE49-F238E27FC236}">
                <a16:creationId xmlns:a16="http://schemas.microsoft.com/office/drawing/2014/main" id="{650E427D-3FAE-458C-B2A0-72B52BB6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Health also contains 33 cases with |F - OA| &gt;= 2, showing that holistic judgments can depart from contextual-fit ratings.</a:t>
            </a:r>
          </a:p>
        </p:txBody>
      </p:sp>
    </p:spTree>
    <p:extLst>
      <p:ext uri="{BB962C8B-B14F-4D97-AF65-F5344CB8AC3E}">
        <p14:creationId xmlns:p14="http://schemas.microsoft.com/office/powerpoint/2010/main" val="4167661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-5">
            <a:extLst xmlns:a="http://schemas.openxmlformats.org/drawingml/2006/main">
              <a:ext uri="{FF2B5EF4-FFF2-40B4-BE49-F238E27FC236}">
                <a16:creationId xmlns:a16="http://schemas.microsoft.com/office/drawing/2014/main" id="{5BEAF804-BD07-4D5E-A10E-F030E1FE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predictive pipeline is now reproducible end to end</a:t>
            </a:r>
          </a:p>
        </p:txBody>
      </p:sp>
      <p:sp>
        <p:nvSpPr>
          <p:cNvPr id="2" name="accent-5">
            <a:extLst xmlns:a="http://schemas.openxmlformats.org/drawingml/2006/main">
              <a:ext uri="{FF2B5EF4-FFF2-40B4-BE49-F238E27FC236}">
                <a16:creationId xmlns:a16="http://schemas.microsoft.com/office/drawing/2014/main" id="{27DA33C6-D65F-472A-97D8-207E57C7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B6F283AC-C406-40B3-A90F-49CB9402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4" name="method-value-0">
            <a:extLst xmlns:a="http://schemas.openxmlformats.org/drawingml/2006/main">
              <a:ext uri="{FF2B5EF4-FFF2-40B4-BE49-F238E27FC236}">
                <a16:creationId xmlns:a16="http://schemas.microsoft.com/office/drawing/2014/main" id="{E5EE9D9B-30B3-4B7E-8727-91777C2C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1,490</a:t>
            </a:r>
          </a:p>
        </p:txBody>
      </p:sp>
      <p:sp>
        <p:nvSpPr>
          <p:cNvPr id="5" name="method-label-0">
            <a:extLst xmlns:a="http://schemas.openxmlformats.org/drawingml/2006/main">
              <a:ext uri="{FF2B5EF4-FFF2-40B4-BE49-F238E27FC236}">
                <a16:creationId xmlns:a16="http://schemas.microsoft.com/office/drawing/2014/main" id="{C19E4E4F-71F5-4B2D-A8A0-7CBF67ED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complete responses</a:t>
            </a:r>
          </a:p>
        </p:txBody>
      </p:sp>
      <p:sp>
        <p:nvSpPr>
          <p:cNvPr id="6" name="method-value-1">
            <a:extLst xmlns:a="http://schemas.openxmlformats.org/drawingml/2006/main">
              <a:ext uri="{FF2B5EF4-FFF2-40B4-BE49-F238E27FC236}">
                <a16:creationId xmlns:a16="http://schemas.microsoft.com/office/drawing/2014/main" id="{77813FFB-8EF3-49FB-BAD7-FDCCF992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499</a:t>
            </a:r>
          </a:p>
        </p:txBody>
      </p:sp>
      <p:sp>
        <p:nvSpPr>
          <p:cNvPr id="7" name="method-label-1">
            <a:extLst xmlns:a="http://schemas.openxmlformats.org/drawingml/2006/main">
              <a:ext uri="{FF2B5EF4-FFF2-40B4-BE49-F238E27FC236}">
                <a16:creationId xmlns:a16="http://schemas.microsoft.com/office/drawing/2014/main" id="{63745760-618D-46F3-8167-8CDCF1FE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prompt clusters</a:t>
            </a:r>
          </a:p>
        </p:txBody>
      </p:sp>
      <p:sp>
        <p:nvSpPr>
          <p:cNvPr id="8" name="method-value-2">
            <a:extLst xmlns:a="http://schemas.openxmlformats.org/drawingml/2006/main">
              <a:ext uri="{FF2B5EF4-FFF2-40B4-BE49-F238E27FC236}">
                <a16:creationId xmlns:a16="http://schemas.microsoft.com/office/drawing/2014/main" id="{D2E984A1-2016-4C49-9A5C-C3F94570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5 x 20</a:t>
            </a:r>
          </a:p>
        </p:txBody>
      </p:sp>
      <p:sp>
        <p:nvSpPr>
          <p:cNvPr id="9" name="method-label-2">
            <a:extLst xmlns:a="http://schemas.openxmlformats.org/drawingml/2006/main">
              <a:ext uri="{FF2B5EF4-FFF2-40B4-BE49-F238E27FC236}">
                <a16:creationId xmlns:a16="http://schemas.microsoft.com/office/drawing/2014/main" id="{7D4556DF-792D-4501-BE20-E864245F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grouped CV folds x repeats</a:t>
            </a:r>
          </a:p>
        </p:txBody>
      </p:sp>
      <p:sp>
        <p:nvSpPr>
          <p:cNvPr id="10" name="method-value-3">
            <a:extLst xmlns:a="http://schemas.openxmlformats.org/drawingml/2006/main">
              <a:ext uri="{FF2B5EF4-FFF2-40B4-BE49-F238E27FC236}">
                <a16:creationId xmlns:a16="http://schemas.microsoft.com/office/drawing/2014/main" id="{09A7C9C6-241B-4469-AFA2-2ED651A1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1,000</a:t>
            </a:r>
          </a:p>
        </p:txBody>
      </p:sp>
      <p:sp>
        <p:nvSpPr>
          <p:cNvPr id="11" name="method-label-3">
            <a:extLst xmlns:a="http://schemas.openxmlformats.org/drawingml/2006/main">
              <a:ext uri="{FF2B5EF4-FFF2-40B4-BE49-F238E27FC236}">
                <a16:creationId xmlns:a16="http://schemas.microsoft.com/office/drawing/2014/main" id="{1FEC82AA-563C-4929-9F6C-C0920BB5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cluster bootstrap resamples</a:t>
            </a:r>
          </a:p>
        </p:txBody>
      </p:sp>
      <p:sp>
        <p:nvSpPr>
          <p:cNvPr id="12" name="method-divider">
            <a:extLst xmlns:a="http://schemas.openxmlformats.org/drawingml/2006/main">
              <a:ext uri="{FF2B5EF4-FFF2-40B4-BE49-F238E27FC236}">
                <a16:creationId xmlns:a16="http://schemas.microsoft.com/office/drawing/2014/main" id="{42ADD513-BA52-4E69-B6EA-906EAF81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00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method-heading-0">
            <a:extLst xmlns:a="http://schemas.openxmlformats.org/drawingml/2006/main">
              <a:ext uri="{FF2B5EF4-FFF2-40B4-BE49-F238E27FC236}">
                <a16:creationId xmlns:a16="http://schemas.microsoft.com/office/drawing/2014/main" id="{F47D2C98-7693-47D2-BD29-81D58757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71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Estimator</a:t>
            </a:r>
          </a:p>
        </p:txBody>
      </p:sp>
      <p:sp>
        <p:nvSpPr>
          <p:cNvPr id="14" name="method-body-0">
            <a:extLst xmlns:a="http://schemas.openxmlformats.org/drawingml/2006/main">
              <a:ext uri="{FF2B5EF4-FFF2-40B4-BE49-F238E27FC236}">
                <a16:creationId xmlns:a16="http://schemas.microsoft.com/office/drawing/2014/main" id="{8DC1B734-03D8-468F-92D3-57F2CC10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OLS with intercept; pooled models add domain indicators.</a:t>
            </a:r>
          </a:p>
        </p:txBody>
      </p:sp>
      <p:sp>
        <p:nvSpPr>
          <p:cNvPr id="15" name="method-heading-1">
            <a:extLst xmlns:a="http://schemas.openxmlformats.org/drawingml/2006/main">
              <a:ext uri="{FF2B5EF4-FFF2-40B4-BE49-F238E27FC236}">
                <a16:creationId xmlns:a16="http://schemas.microsoft.com/office/drawing/2014/main" id="{2AAF01DE-C975-4F6D-A629-C80352FD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957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Preprocessing</a:t>
            </a:r>
          </a:p>
        </p:txBody>
      </p:sp>
      <p:sp>
        <p:nvSpPr>
          <p:cNvPr id="16" name="method-body-1">
            <a:extLst xmlns:a="http://schemas.openxmlformats.org/drawingml/2006/main">
              <a:ext uri="{FF2B5EF4-FFF2-40B4-BE49-F238E27FC236}">
                <a16:creationId xmlns:a16="http://schemas.microsoft.com/office/drawing/2014/main" id="{0D16E65D-6D68-4926-B585-7A6CB8DA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95725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Recorded scales; no imputation, regularization, feature selection, tuning, or outcome transformation.</a:t>
            </a:r>
          </a:p>
        </p:txBody>
      </p:sp>
      <p:sp>
        <p:nvSpPr>
          <p:cNvPr id="17" name="method-heading-2">
            <a:extLst xmlns:a="http://schemas.openxmlformats.org/drawingml/2006/main">
              <a:ext uri="{FF2B5EF4-FFF2-40B4-BE49-F238E27FC236}">
                <a16:creationId xmlns:a16="http://schemas.microsoft.com/office/drawing/2014/main" id="{D89AAC85-0B02-473B-BA13-1E98223E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196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Grouping</a:t>
            </a:r>
          </a:p>
        </p:txBody>
      </p:sp>
      <p:sp>
        <p:nvSpPr>
          <p:cNvPr id="18" name="method-body-2">
            <a:extLst xmlns:a="http://schemas.openxmlformats.org/drawingml/2006/main">
              <a:ext uri="{FF2B5EF4-FFF2-40B4-BE49-F238E27FC236}">
                <a16:creationId xmlns:a16="http://schemas.microsoft.com/office/drawing/2014/main" id="{E822696E-1ADA-40BD-B77C-8A7E97B1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1960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Responses from the same prompt remain together; deterministic seeds 42-61.</a:t>
            </a:r>
          </a:p>
        </p:txBody>
      </p:sp>
      <p:sp>
        <p:nvSpPr>
          <p:cNvPr id="19" name="method-heading-3">
            <a:extLst xmlns:a="http://schemas.openxmlformats.org/drawingml/2006/main">
              <a:ext uri="{FF2B5EF4-FFF2-40B4-BE49-F238E27FC236}">
                <a16:creationId xmlns:a16="http://schemas.microsoft.com/office/drawing/2014/main" id="{D1BBBC6C-516B-4D70-AF9D-B25309D9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434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Uncertainty</a:t>
            </a:r>
          </a:p>
        </p:txBody>
      </p:sp>
      <p:sp>
        <p:nvSpPr>
          <p:cNvPr id="20" name="method-body-3">
            <a:extLst xmlns:a="http://schemas.openxmlformats.org/drawingml/2006/main">
              <a:ext uri="{FF2B5EF4-FFF2-40B4-BE49-F238E27FC236}">
                <a16:creationId xmlns:a16="http://schemas.microsoft.com/office/drawing/2014/main" id="{A1DAC946-7898-4CFE-BF81-9634E137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43475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Paired prompt-cluster bootstrap intervals from out-of-fold predictions.</a:t>
            </a:r>
          </a:p>
        </p:txBody>
      </p:sp>
      <p:sp>
        <p:nvSpPr>
          <p:cNvPr id="21" name="method-heading-4">
            <a:extLst xmlns:a="http://schemas.openxmlformats.org/drawingml/2006/main">
              <a:ext uri="{FF2B5EF4-FFF2-40B4-BE49-F238E27FC236}">
                <a16:creationId xmlns:a16="http://schemas.microsoft.com/office/drawing/2014/main" id="{36FF3C7E-F8E1-4666-BA9D-4CD175D8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67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Measurement</a:t>
            </a:r>
          </a:p>
        </p:txBody>
      </p:sp>
      <p:sp>
        <p:nvSpPr>
          <p:cNvPr id="22" name="method-body-4">
            <a:extLst xmlns:a="http://schemas.openxmlformats.org/drawingml/2006/main">
              <a:ext uri="{FF2B5EF4-FFF2-40B4-BE49-F238E27FC236}">
                <a16:creationId xmlns:a16="http://schemas.microsoft.com/office/drawing/2014/main" id="{3121FAC5-CA11-4DC1-9C0F-A9442B2F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673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Group A rates OA; separate Group B rates E, D, and F.</a:t>
            </a:r>
          </a:p>
        </p:txBody>
      </p:sp>
    </p:spTree>
    <p:extLst>
      <p:ext uri="{BB962C8B-B14F-4D97-AF65-F5344CB8AC3E}">
        <p14:creationId xmlns:p14="http://schemas.microsoft.com/office/powerpoint/2010/main" val="19588901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6">
            <a:extLst xmlns:a="http://schemas.openxmlformats.org/drawingml/2006/main">
              <a:ext uri="{FF2B5EF4-FFF2-40B4-BE49-F238E27FC236}">
                <a16:creationId xmlns:a16="http://schemas.microsoft.com/office/drawing/2014/main" id="{85E066B6-1616-4D2F-B216-3A2E9183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paper now reports the generated evidence exactly</a:t>
            </a:r>
          </a:p>
        </p:txBody>
      </p:sp>
      <p:sp>
        <p:nvSpPr>
          <p:cNvPr id="2" name="accent-6">
            <a:extLst xmlns:a="http://schemas.openxmlformats.org/drawingml/2006/main">
              <a:ext uri="{FF2B5EF4-FFF2-40B4-BE49-F238E27FC236}">
                <a16:creationId xmlns:a16="http://schemas.microsoft.com/office/drawing/2014/main" id="{A9628CFD-B985-4B72-9C6C-5DE74D35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A8B558B7-74B1-43CA-891A-89328424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28625" y="1619250"/>
          <a:ext xmlns:a="http://schemas.openxmlformats.org/drawingml/2006/main" cx="75247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724a6d986c49dd"/>
          </a:graphicData>
        </a:graphic>
      </p:graphicFrame>
      <p:sp>
        <p:nvSpPr>
          <p:cNvPr id="5" name="evidence-side">
            <a:extLst xmlns:a="http://schemas.openxmlformats.org/drawingml/2006/main">
              <a:ext uri="{FF2B5EF4-FFF2-40B4-BE49-F238E27FC236}">
                <a16:creationId xmlns:a16="http://schemas.microsoft.com/office/drawing/2014/main" id="{C1A754AA-4828-4463-97D2-0FB2643E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19250"/>
            <a:ext cx="307657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evidence-side-title">
            <a:extLst xmlns:a="http://schemas.openxmlformats.org/drawingml/2006/main">
              <a:ext uri="{FF2B5EF4-FFF2-40B4-BE49-F238E27FC236}">
                <a16:creationId xmlns:a16="http://schemas.microsoft.com/office/drawing/2014/main" id="{607D54E7-AA66-48C0-ADD8-DC046F43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33575"/>
            <a:ext cx="2524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8256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Reporting corrections</a:t>
            </a:r>
          </a:p>
        </p:txBody>
      </p:sp>
      <p:sp>
        <p:nvSpPr>
          <p:cNvPr id="7" name="evidence-reliability">
            <a:extLst xmlns:a="http://schemas.openxmlformats.org/drawingml/2006/main">
              <a:ext uri="{FF2B5EF4-FFF2-40B4-BE49-F238E27FC236}">
                <a16:creationId xmlns:a16="http://schemas.microsoft.com/office/drawing/2014/main" id="{E5BE27C4-46E3-495A-9054-FEA7724F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289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Health E reliability</a:t>
            </a:r>
          </a:p>
        </p:txBody>
      </p:sp>
      <p:sp>
        <p:nvSpPr>
          <p:cNvPr id="8" name="evidence-icc">
            <a:extLst xmlns:a="http://schemas.openxmlformats.org/drawingml/2006/main">
              <a:ext uri="{FF2B5EF4-FFF2-40B4-BE49-F238E27FC236}">
                <a16:creationId xmlns:a16="http://schemas.microsoft.com/office/drawing/2014/main" id="{2BF858AB-8EAA-4658-869D-A245CD40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981325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47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ICC(A,k)  .939</a:t>
            </a:r>
          </a:p>
        </p:txBody>
      </p:sp>
      <p:sp>
        <p:nvSpPr>
          <p:cNvPr id="9" name="evidence-single">
            <a:extLst xmlns:a="http://schemas.openxmlformats.org/drawingml/2006/main">
              <a:ext uri="{FF2B5EF4-FFF2-40B4-BE49-F238E27FC236}">
                <a16:creationId xmlns:a16="http://schemas.microsoft.com/office/drawing/2014/main" id="{EFD63D14-AD7C-44A8-A91E-F1E0A5F9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57575"/>
            <a:ext cx="2524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ICC(A,1)  .754</a:t>
            </a:r>
          </a:p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Ordinal alpha  .667</a:t>
            </a:r>
          </a:p>
        </p:txBody>
      </p:sp>
      <p:sp>
        <p:nvSpPr>
          <p:cNvPr id="10" name="evidence-side-rule">
            <a:extLst xmlns:a="http://schemas.openxmlformats.org/drawingml/2006/main">
              <a:ext uri="{FF2B5EF4-FFF2-40B4-BE49-F238E27FC236}">
                <a16:creationId xmlns:a16="http://schemas.microsoft.com/office/drawing/2014/main" id="{68D7DF45-F669-484C-9A6B-F445994E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33875"/>
            <a:ext cx="2266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evidence-health">
            <a:extLst xmlns:a="http://schemas.openxmlformats.org/drawingml/2006/main">
              <a:ext uri="{FF2B5EF4-FFF2-40B4-BE49-F238E27FC236}">
                <a16:creationId xmlns:a16="http://schemas.microsoft.com/office/drawing/2014/main" id="{E18175A0-38F8-44D8-8D74-2E8A1C33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6247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665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56B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B56B12"/>
                </a:solidFill>
                <a:latin typeface="Helvetica Neue"/>
                <a:ea typeface="Helvetica Neue"/>
                <a:cs typeface="Helvetica Neue"/>
              </a:rPr>
              <a:t>Health remains exploratory: the gain over H alone is positive, but its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19185787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7">
            <a:extLst xmlns:a="http://schemas.openxmlformats.org/drawingml/2006/main">
              <a:ext uri="{FF2B5EF4-FFF2-40B4-BE49-F238E27FC236}">
                <a16:creationId xmlns:a16="http://schemas.microsoft.com/office/drawing/2014/main" id="{C7AC3AF3-D51E-4028-B217-416A991D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ethics concern is now resolved with precise scope</a:t>
            </a:r>
          </a:p>
        </p:txBody>
      </p:sp>
      <p:sp>
        <p:nvSpPr>
          <p:cNvPr id="2" name="accent-7">
            <a:extLst xmlns:a="http://schemas.openxmlformats.org/drawingml/2006/main">
              <a:ext uri="{FF2B5EF4-FFF2-40B4-BE49-F238E27FC236}">
                <a16:creationId xmlns:a16="http://schemas.microsoft.com/office/drawing/2014/main" id="{DC85D426-3F31-4924-A592-F7EA262B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D9D8C3FD-1A1A-411F-8788-C13BC863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4" name="eirb-label">
            <a:extLst xmlns:a="http://schemas.openxmlformats.org/drawingml/2006/main">
              <a:ext uri="{FF2B5EF4-FFF2-40B4-BE49-F238E27FC236}">
                <a16:creationId xmlns:a16="http://schemas.microsoft.com/office/drawing/2014/main" id="{E3250873-D331-42D5-95AD-BFF91D54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UNIVERSITY EIRB</a:t>
            </a:r>
          </a:p>
        </p:txBody>
      </p:sp>
      <p:sp>
        <p:nvSpPr>
          <p:cNvPr id="5" name="eirb-status">
            <a:extLst xmlns:a="http://schemas.openxmlformats.org/drawingml/2006/main">
              <a:ext uri="{FF2B5EF4-FFF2-40B4-BE49-F238E27FC236}">
                <a16:creationId xmlns:a16="http://schemas.microsoft.com/office/drawing/2014/main" id="{FE0ADA09-E0DD-4A8A-B904-40784316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812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APPROVED</a:t>
            </a:r>
          </a:p>
        </p:txBody>
      </p:sp>
      <p:sp>
        <p:nvSpPr>
          <p:cNvPr id="6" name="eirb-date">
            <a:extLst xmlns:a="http://schemas.openxmlformats.org/drawingml/2006/main">
              <a:ext uri="{FF2B5EF4-FFF2-40B4-BE49-F238E27FC236}">
                <a16:creationId xmlns:a16="http://schemas.microsoft.com/office/drawing/2014/main" id="{66B3C927-777D-44EE-965E-CADFB536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12 February 2026</a:t>
            </a:r>
          </a:p>
        </p:txBody>
      </p:sp>
      <p:sp>
        <p:nvSpPr>
          <p:cNvPr id="7" name="eirb-scope">
            <a:extLst xmlns:a="http://schemas.openxmlformats.org/drawingml/2006/main">
              <a:ext uri="{FF2B5EF4-FFF2-40B4-BE49-F238E27FC236}">
                <a16:creationId xmlns:a16="http://schemas.microsoft.com/office/drawing/2014/main" id="{38DA0257-C68E-4FAC-B7E9-035E44AD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05225"/>
            <a:ext cx="590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PERSONA is documented as a sub-study within the broader approved parent project.</a:t>
            </a:r>
          </a:p>
        </p:txBody>
      </p:sp>
      <p:sp>
        <p:nvSpPr>
          <p:cNvPr id="8" name="eirb-separator">
            <a:extLst xmlns:a="http://schemas.openxmlformats.org/drawingml/2006/main">
              <a:ext uri="{FF2B5EF4-FFF2-40B4-BE49-F238E27FC236}">
                <a16:creationId xmlns:a16="http://schemas.microsoft.com/office/drawing/2014/main" id="{61A52A0D-2F45-4E89-9B37-9A1FD6E2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43050"/>
            <a:ext cx="285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check-mark-168">
            <a:extLst xmlns:a="http://schemas.openxmlformats.org/drawingml/2006/main">
              <a:ext uri="{FF2B5EF4-FFF2-40B4-BE49-F238E27FC236}">
                <a16:creationId xmlns:a16="http://schemas.microsoft.com/office/drawing/2014/main" id="{4A178979-9007-4340-9001-2A543521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287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0" name="check-label-168">
            <a:extLst xmlns:a="http://schemas.openxmlformats.org/drawingml/2006/main">
              <a:ext uri="{FF2B5EF4-FFF2-40B4-BE49-F238E27FC236}">
                <a16:creationId xmlns:a16="http://schemas.microsoft.com/office/drawing/2014/main" id="{FB95645D-BBAA-4FFD-A450-E6D0E973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8115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Participation</a:t>
            </a:r>
          </a:p>
        </p:txBody>
      </p:sp>
      <p:sp>
        <p:nvSpPr>
          <p:cNvPr id="11" name="check-detail-168">
            <a:extLst xmlns:a="http://schemas.openxmlformats.org/drawingml/2006/main">
              <a:ext uri="{FF2B5EF4-FFF2-40B4-BE49-F238E27FC236}">
                <a16:creationId xmlns:a16="http://schemas.microsoft.com/office/drawing/2014/main" id="{54010115-1863-4993-AD13-227E7271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Informed consent, voluntary participation, and withdrawal rights documented.</a:t>
            </a:r>
          </a:p>
        </p:txBody>
      </p:sp>
      <p:sp>
        <p:nvSpPr>
          <p:cNvPr id="12" name="check-mark-278">
            <a:extLst xmlns:a="http://schemas.openxmlformats.org/drawingml/2006/main">
              <a:ext uri="{FF2B5EF4-FFF2-40B4-BE49-F238E27FC236}">
                <a16:creationId xmlns:a16="http://schemas.microsoft.com/office/drawing/2014/main" id="{B2881C09-BC74-4CB8-9F09-435E15A0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765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3" name="check-label-278">
            <a:extLst xmlns:a="http://schemas.openxmlformats.org/drawingml/2006/main">
              <a:ext uri="{FF2B5EF4-FFF2-40B4-BE49-F238E27FC236}">
                <a16:creationId xmlns:a16="http://schemas.microsoft.com/office/drawing/2014/main" id="{5ED1BBAF-6D07-4A05-B4C2-F46D511A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Safeguards</a:t>
            </a:r>
          </a:p>
        </p:txBody>
      </p:sp>
      <p:sp>
        <p:nvSpPr>
          <p:cNvPr id="14" name="check-detail-278">
            <a:extLst xmlns:a="http://schemas.openxmlformats.org/drawingml/2006/main">
              <a:ext uri="{FF2B5EF4-FFF2-40B4-BE49-F238E27FC236}">
                <a16:creationId xmlns:a16="http://schemas.microsoft.com/office/drawing/2014/main" id="{539A8067-B2F2-4904-A985-712FE955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484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Sensitive-content warning, self-paced work, breaks, anonymization, and support route documented.</a:t>
            </a:r>
          </a:p>
        </p:txBody>
      </p:sp>
      <p:sp>
        <p:nvSpPr>
          <p:cNvPr id="15" name="check-mark-410">
            <a:extLst xmlns:a="http://schemas.openxmlformats.org/drawingml/2006/main">
              <a:ext uri="{FF2B5EF4-FFF2-40B4-BE49-F238E27FC236}">
                <a16:creationId xmlns:a16="http://schemas.microsoft.com/office/drawing/2014/main" id="{06273DC1-C71A-4DCE-84D1-EF4C3E6D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338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6" name="check-label-410">
            <a:extLst xmlns:a="http://schemas.openxmlformats.org/drawingml/2006/main">
              <a:ext uri="{FF2B5EF4-FFF2-40B4-BE49-F238E27FC236}">
                <a16:creationId xmlns:a16="http://schemas.microsoft.com/office/drawing/2014/main" id="{F74254B7-0520-493E-A0CC-6CD28386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Independence</a:t>
            </a:r>
          </a:p>
        </p:txBody>
      </p:sp>
      <p:sp>
        <p:nvSpPr>
          <p:cNvPr id="17" name="check-detail-410">
            <a:extLst xmlns:a="http://schemas.openxmlformats.org/drawingml/2006/main">
              <a:ext uri="{FF2B5EF4-FFF2-40B4-BE49-F238E27FC236}">
                <a16:creationId xmlns:a16="http://schemas.microsoft.com/office/drawing/2014/main" id="{47438A88-9305-4043-A8F0-54B2E0D7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719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47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Separate rater groups, independent judgments, and AI-use boundaries documented.</a:t>
            </a:r>
          </a:p>
        </p:txBody>
      </p:sp>
      <p:sp>
        <p:nvSpPr>
          <p:cNvPr id="18" name="check-mark-542">
            <a:extLst xmlns:a="http://schemas.openxmlformats.org/drawingml/2006/main">
              <a:ext uri="{FF2B5EF4-FFF2-40B4-BE49-F238E27FC236}">
                <a16:creationId xmlns:a16="http://schemas.microsoft.com/office/drawing/2014/main" id="{D56CF3AD-A25A-4B40-9443-C921462C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1911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19" name="check-label-542">
            <a:extLst xmlns:a="http://schemas.openxmlformats.org/drawingml/2006/main">
              <a:ext uri="{FF2B5EF4-FFF2-40B4-BE49-F238E27FC236}">
                <a16:creationId xmlns:a16="http://schemas.microsoft.com/office/drawing/2014/main" id="{71BC5740-05D3-415B-9199-CC28EE36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435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Anonymous handling</a:t>
            </a:r>
          </a:p>
        </p:txBody>
      </p:sp>
      <p:sp>
        <p:nvSpPr>
          <p:cNvPr id="20" name="check-detail-542">
            <a:extLst xmlns:a="http://schemas.openxmlformats.org/drawingml/2006/main">
              <a:ext uri="{FF2B5EF4-FFF2-40B4-BE49-F238E27FC236}">
                <a16:creationId xmlns:a16="http://schemas.microsoft.com/office/drawing/2014/main" id="{76631DC0-4C47-4BCE-87FF-2AD8806C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292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12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Signed letter stays private because it contains identities and committee signatures.</a:t>
            </a:r>
          </a:p>
        </p:txBody>
      </p:sp>
    </p:spTree>
    <p:extLst>
      <p:ext uri="{BB962C8B-B14F-4D97-AF65-F5344CB8AC3E}">
        <p14:creationId xmlns:p14="http://schemas.microsoft.com/office/powerpoint/2010/main" val="9269010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8">
            <a:extLst xmlns:a="http://schemas.openxmlformats.org/drawingml/2006/main">
              <a:ext uri="{FF2B5EF4-FFF2-40B4-BE49-F238E27FC236}">
                <a16:creationId xmlns:a16="http://schemas.microsoft.com/office/drawing/2014/main" id="{5AA876EA-6AE1-4CA5-AEBF-82BBCB1E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manuscript now meets CHI length guidance</a:t>
            </a:r>
          </a:p>
        </p:txBody>
      </p:sp>
      <p:sp>
        <p:nvSpPr>
          <p:cNvPr id="2" name="accent-8">
            <a:extLst xmlns:a="http://schemas.openxmlformats.org/drawingml/2006/main">
              <a:ext uri="{FF2B5EF4-FFF2-40B4-BE49-F238E27FC236}">
                <a16:creationId xmlns:a16="http://schemas.microsoft.com/office/drawing/2014/main" id="{0DC45D57-7DEB-4E28-A739-DEA09AD6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FF5092CE-CB48-4A57-9366-6391F8A9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4" name="readiness-panel-0">
            <a:extLst xmlns:a="http://schemas.openxmlformats.org/drawingml/2006/main">
              <a:ext uri="{FF2B5EF4-FFF2-40B4-BE49-F238E27FC236}">
                <a16:creationId xmlns:a16="http://schemas.microsoft.com/office/drawing/2014/main" id="{5FDB79F3-6A48-49A5-896A-63DA0607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readiness-stat-0">
            <a:extLst xmlns:a="http://schemas.openxmlformats.org/drawingml/2006/main">
              <a:ext uri="{FF2B5EF4-FFF2-40B4-BE49-F238E27FC236}">
                <a16:creationId xmlns:a16="http://schemas.microsoft.com/office/drawing/2014/main" id="{B9DDF80D-8752-488A-A0CB-63C4C93D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6,564</a:t>
            </a:r>
          </a:p>
        </p:txBody>
      </p:sp>
      <p:sp>
        <p:nvSpPr>
          <p:cNvPr id="6" name="readiness-label-0">
            <a:extLst xmlns:a="http://schemas.openxmlformats.org/drawingml/2006/main">
              <a:ext uri="{FF2B5EF4-FFF2-40B4-BE49-F238E27FC236}">
                <a16:creationId xmlns:a16="http://schemas.microsoft.com/office/drawing/2014/main" id="{B211C2CC-E28B-401C-B7AF-82BEE08C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TeXcount sum</a:t>
            </a:r>
          </a:p>
        </p:txBody>
      </p:sp>
      <p:sp>
        <p:nvSpPr>
          <p:cNvPr id="7" name="readiness-note-0">
            <a:extLst xmlns:a="http://schemas.openxmlformats.org/drawingml/2006/main">
              <a:ext uri="{FF2B5EF4-FFF2-40B4-BE49-F238E27FC236}">
                <a16:creationId xmlns:a16="http://schemas.microsoft.com/office/drawing/2014/main" id="{774C0638-9222-4011-B76E-2AF0FF3F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Within the encouraged paper range</a:t>
            </a:r>
          </a:p>
        </p:txBody>
      </p:sp>
      <p:sp>
        <p:nvSpPr>
          <p:cNvPr id="8" name="readiness-panel-1">
            <a:extLst xmlns:a="http://schemas.openxmlformats.org/drawingml/2006/main">
              <a:ext uri="{FF2B5EF4-FFF2-40B4-BE49-F238E27FC236}">
                <a16:creationId xmlns:a16="http://schemas.microsoft.com/office/drawing/2014/main" id="{512BFC83-09DD-480A-8AFA-CA20E809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readiness-stat-1">
            <a:extLst xmlns:a="http://schemas.openxmlformats.org/drawingml/2006/main">
              <a:ext uri="{FF2B5EF4-FFF2-40B4-BE49-F238E27FC236}">
                <a16:creationId xmlns:a16="http://schemas.microsoft.com/office/drawing/2014/main" id="{B9B2CE8B-7C79-4DEB-90FB-FE2CDB39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137</a:t>
            </a:r>
          </a:p>
        </p:txBody>
      </p:sp>
      <p:sp>
        <p:nvSpPr>
          <p:cNvPr id="10" name="readiness-label-1">
            <a:extLst xmlns:a="http://schemas.openxmlformats.org/drawingml/2006/main">
              <a:ext uri="{FF2B5EF4-FFF2-40B4-BE49-F238E27FC236}">
                <a16:creationId xmlns:a16="http://schemas.microsoft.com/office/drawing/2014/main" id="{5A01DBB0-4FE7-4244-9424-ABC377D7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abstract words</a:t>
            </a:r>
          </a:p>
        </p:txBody>
      </p:sp>
      <p:sp>
        <p:nvSpPr>
          <p:cNvPr id="11" name="readiness-note-1">
            <a:extLst xmlns:a="http://schemas.openxmlformats.org/drawingml/2006/main">
              <a:ext uri="{FF2B5EF4-FFF2-40B4-BE49-F238E27FC236}">
                <a16:creationId xmlns:a16="http://schemas.microsoft.com/office/drawing/2014/main" id="{F3A2C917-AF42-4AE2-BC22-83035AFC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Below the 150-word maximum</a:t>
            </a:r>
          </a:p>
        </p:txBody>
      </p:sp>
      <p:sp>
        <p:nvSpPr>
          <p:cNvPr id="12" name="readiness-panel-2">
            <a:extLst xmlns:a="http://schemas.openxmlformats.org/drawingml/2006/main">
              <a:ext uri="{FF2B5EF4-FFF2-40B4-BE49-F238E27FC236}">
                <a16:creationId xmlns:a16="http://schemas.microsoft.com/office/drawing/2014/main" id="{2D827076-4C1B-48F9-BDCC-9B206E33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readiness-stat-2">
            <a:extLst xmlns:a="http://schemas.openxmlformats.org/drawingml/2006/main">
              <a:ext uri="{FF2B5EF4-FFF2-40B4-BE49-F238E27FC236}">
                <a16:creationId xmlns:a16="http://schemas.microsoft.com/office/drawing/2014/main" id="{2FE7F0D1-4E45-458B-ADC1-51E9EF89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sp>
        <p:nvSpPr>
          <p:cNvPr id="14" name="readiness-label-2">
            <a:extLst xmlns:a="http://schemas.openxmlformats.org/drawingml/2006/main">
              <a:ext uri="{FF2B5EF4-FFF2-40B4-BE49-F238E27FC236}">
                <a16:creationId xmlns:a16="http://schemas.microsoft.com/office/drawing/2014/main" id="{3B7DEF59-671B-4105-B90F-4FEE534A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references</a:t>
            </a:r>
          </a:p>
        </p:txBody>
      </p:sp>
      <p:sp>
        <p:nvSpPr>
          <p:cNvPr id="15" name="readiness-note-2">
            <a:extLst xmlns:a="http://schemas.openxmlformats.org/drawingml/2006/main">
              <a:ext uri="{FF2B5EF4-FFF2-40B4-BE49-F238E27FC236}">
                <a16:creationId xmlns:a16="http://schemas.microsoft.com/office/drawing/2014/main" id="{696332BE-0770-40DC-AFC2-5DFBEF32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Literature foundation retained</a:t>
            </a:r>
          </a:p>
        </p:txBody>
      </p:sp>
      <p:sp>
        <p:nvSpPr>
          <p:cNvPr id="16" name="remaining-title">
            <a:extLst xmlns:a="http://schemas.openxmlformats.org/drawingml/2006/main">
              <a:ext uri="{FF2B5EF4-FFF2-40B4-BE49-F238E27FC236}">
                <a16:creationId xmlns:a16="http://schemas.microsoft.com/office/drawing/2014/main" id="{C0F0D2B7-812E-428E-BF08-D70DAAEE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386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Remaining before submission</a:t>
            </a:r>
          </a:p>
        </p:txBody>
      </p:sp>
      <p:sp>
        <p:nvSpPr>
          <p:cNvPr id="17" name="remaining-list">
            <a:extLst xmlns:a="http://schemas.openxmlformats.org/drawingml/2006/main">
              <a:ext uri="{FF2B5EF4-FFF2-40B4-BE49-F238E27FC236}">
                <a16:creationId xmlns:a16="http://schemas.microsoft.com/office/drawing/2014/main" id="{B96F2D4B-8EDA-4F50-91C0-C366B005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1. Audit the anonymous supplementary package</a:t>
            </a:r>
          </a:p>
          <a:p xmlns:a="http://schemas.openxmlformats.org/drawingml/2006/main">
            <a:pPr algn="l"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2. Perform final Overleaf layout and line-wrap review</a:t>
            </a:r>
          </a:p>
          <a:p xmlns:a="http://schemas.openxmlformats.org/drawingml/2006/main">
            <a:pPr algn="l"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3. Normalize references and add access dates only where records exist</a:t>
            </a:r>
          </a:p>
        </p:txBody>
      </p:sp>
      <p:sp>
        <p:nvSpPr>
          <p:cNvPr id="18" name="pages-note">
            <a:extLst xmlns:a="http://schemas.openxmlformats.org/drawingml/2006/main">
              <a:ext uri="{FF2B5EF4-FFF2-40B4-BE49-F238E27FC236}">
                <a16:creationId xmlns:a16="http://schemas.microsoft.com/office/drawing/2014/main" id="{6BAC13B1-1229-44D5-A485-B17D2E8F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76700"/>
            <a:ext cx="33147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7DDEA"/>
            </a:solidFill>
            <a:prstDash val="solid"/>
          </a:ln>
        </p:spPr>
      </p:sp>
      <p:sp>
        <p:nvSpPr>
          <p:cNvPr id="19" name="pages-note-title">
            <a:extLst xmlns:a="http://schemas.openxmlformats.org/drawingml/2006/main">
              <a:ext uri="{FF2B5EF4-FFF2-40B4-BE49-F238E27FC236}">
                <a16:creationId xmlns:a16="http://schemas.microsoft.com/office/drawing/2014/main" id="{1F90C1EA-4722-48D9-8DD9-EC1470AA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624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Why 19 pages is acceptable</a:t>
            </a:r>
          </a:p>
        </p:txBody>
      </p:sp>
      <p:sp>
        <p:nvSpPr>
          <p:cNvPr id="20" name="pages-note-copy">
            <a:extLst xmlns:a="http://schemas.openxmlformats.org/drawingml/2006/main">
              <a:ext uri="{FF2B5EF4-FFF2-40B4-BE49-F238E27FC236}">
                <a16:creationId xmlns:a16="http://schemas.microsoft.com/office/drawing/2014/main" id="{F3B076FD-08E0-4C35-B2F6-8AB17A08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78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373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CHI requires the single-column review format and evaluates Papers primarily by word count. Tables, figures, and references expand the page count.</a:t>
            </a:r>
          </a:p>
        </p:txBody>
      </p:sp>
    </p:spTree>
    <p:extLst>
      <p:ext uri="{BB962C8B-B14F-4D97-AF65-F5344CB8AC3E}">
        <p14:creationId xmlns:p14="http://schemas.microsoft.com/office/powerpoint/2010/main" val="12459650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ecision-eyebrow">
            <a:extLst xmlns:a="http://schemas.openxmlformats.org/drawingml/2006/main">
              <a:ext uri="{FF2B5EF4-FFF2-40B4-BE49-F238E27FC236}">
                <a16:creationId xmlns:a16="http://schemas.microsoft.com/office/drawing/2014/main" id="{B5FEDE5C-BF62-4C9C-AF8F-8D4CA710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GUIDANCE REQUESTED</a:t>
            </a:r>
          </a:p>
        </p:txBody>
      </p:sp>
      <p:sp>
        <p:nvSpPr>
          <p:cNvPr id="2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D28CBA4A-4C91-43BB-A522-372D27F9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981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Three decisions will let us freeze the paper</a:t>
            </a:r>
          </a:p>
        </p:txBody>
      </p:sp>
      <p:sp>
        <p:nvSpPr>
          <p:cNvPr id="3" name="decision-num-0">
            <a:extLst xmlns:a="http://schemas.openxmlformats.org/drawingml/2006/main">
              <a:ext uri="{FF2B5EF4-FFF2-40B4-BE49-F238E27FC236}">
                <a16:creationId xmlns:a16="http://schemas.microsoft.com/office/drawing/2014/main" id="{E85039EF-DACA-4B98-8952-F8BF9ACE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decision-heading-0">
            <a:extLst xmlns:a="http://schemas.openxmlformats.org/drawingml/2006/main">
              <a:ext uri="{FF2B5EF4-FFF2-40B4-BE49-F238E27FC236}">
                <a16:creationId xmlns:a16="http://schemas.microsoft.com/office/drawing/2014/main" id="{F4E07079-CA1A-4766-8514-380DD0FE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5717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Positioning</a:t>
            </a:r>
          </a:p>
        </p:txBody>
      </p:sp>
      <p:sp>
        <p:nvSpPr>
          <p:cNvPr id="5" name="decision-body-0">
            <a:extLst xmlns:a="http://schemas.openxmlformats.org/drawingml/2006/main">
              <a:ext uri="{FF2B5EF4-FFF2-40B4-BE49-F238E27FC236}">
                <a16:creationId xmlns:a16="http://schemas.microsoft.com/office/drawing/2014/main" id="{DB93C350-FB6B-428A-ADDA-3D86E6C2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717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Is the contribution correctly framed as a diagnostic measurement framework rather than universal psychometric validation?</a:t>
            </a:r>
          </a:p>
        </p:txBody>
      </p:sp>
      <p:sp>
        <p:nvSpPr>
          <p:cNvPr id="6" name="decision-num-1">
            <a:extLst xmlns:a="http://schemas.openxmlformats.org/drawingml/2006/main">
              <a:ext uri="{FF2B5EF4-FFF2-40B4-BE49-F238E27FC236}">
                <a16:creationId xmlns:a16="http://schemas.microsoft.com/office/drawing/2014/main" id="{08327072-B5AA-4714-9B59-690BCECB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623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decision-heading-1">
            <a:extLst xmlns:a="http://schemas.openxmlformats.org/drawingml/2006/main">
              <a:ext uri="{FF2B5EF4-FFF2-40B4-BE49-F238E27FC236}">
                <a16:creationId xmlns:a16="http://schemas.microsoft.com/office/drawing/2014/main" id="{3AF73E52-2A37-4F1C-A9AF-8716976B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23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F versus OA</a:t>
            </a:r>
          </a:p>
        </p:txBody>
      </p:sp>
      <p:sp>
        <p:nvSpPr>
          <p:cNvPr id="8" name="decision-body-1">
            <a:extLst xmlns:a="http://schemas.openxmlformats.org/drawingml/2006/main">
              <a:ext uri="{FF2B5EF4-FFF2-40B4-BE49-F238E27FC236}">
                <a16:creationId xmlns:a16="http://schemas.microsoft.com/office/drawing/2014/main" id="{CCA62087-18D8-4CCD-8F19-01C6C970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623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Is the direct relationship audit and cautious construct-validity language sufficient?</a:t>
            </a:r>
          </a:p>
        </p:txBody>
      </p:sp>
      <p:sp>
        <p:nvSpPr>
          <p:cNvPr id="9" name="decision-num-2">
            <a:extLst xmlns:a="http://schemas.openxmlformats.org/drawingml/2006/main">
              <a:ext uri="{FF2B5EF4-FFF2-40B4-BE49-F238E27FC236}">
                <a16:creationId xmlns:a16="http://schemas.microsoft.com/office/drawing/2014/main" id="{988D7868-7496-4607-9E55-26A82053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529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decision-heading-2">
            <a:extLst xmlns:a="http://schemas.openxmlformats.org/drawingml/2006/main">
              <a:ext uri="{FF2B5EF4-FFF2-40B4-BE49-F238E27FC236}">
                <a16:creationId xmlns:a16="http://schemas.microsoft.com/office/drawing/2014/main" id="{53BD448F-0ECF-499E-B9B8-0D729483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529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Submission stance</a:t>
            </a:r>
          </a:p>
        </p:txBody>
      </p:sp>
      <p:sp>
        <p:nvSpPr>
          <p:cNvPr id="11" name="decision-body-2">
            <a:extLst xmlns:a="http://schemas.openxmlformats.org/drawingml/2006/main">
              <a:ext uri="{FF2B5EF4-FFF2-40B4-BE49-F238E27FC236}">
                <a16:creationId xmlns:a16="http://schemas.microsoft.com/office/drawing/2014/main" id="{6CB120EB-AB84-40BC-ACEA-6ED75B87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529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Can we freeze substantive text after anonymity, references, and layout checks?</a:t>
            </a:r>
          </a:p>
        </p:txBody>
      </p:sp>
      <p:sp>
        <p:nvSpPr>
          <p:cNvPr id="12" name="stance-band">
            <a:extLst xmlns:a="http://schemas.openxmlformats.org/drawingml/2006/main">
              <a:ext uri="{FF2B5EF4-FFF2-40B4-BE49-F238E27FC236}">
                <a16:creationId xmlns:a16="http://schemas.microsoft.com/office/drawing/2014/main" id="{1090236F-202C-487D-BE30-CC3DCB23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00725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418"/>
          </a:solidFill>
          <a:ln xmlns:a="http://schemas.openxmlformats.org/drawingml/2006/main" w="9525">
            <a:solidFill>
              <a:srgbClr val="111418"/>
            </a:solidFill>
            <a:prstDash val="solid"/>
          </a:ln>
        </p:spPr>
      </p:sp>
      <p:sp>
        <p:nvSpPr>
          <p:cNvPr id="13" name="stance-copy">
            <a:extLst xmlns:a="http://schemas.openxmlformats.org/drawingml/2006/main">
              <a:ext uri="{FF2B5EF4-FFF2-40B4-BE49-F238E27FC236}">
                <a16:creationId xmlns:a16="http://schemas.microsoft.com/office/drawing/2014/main" id="{629B7440-DC6D-4639-8E1A-C5140A07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Proposed stance: mental health is primary; education is transfer evidence; health remains exploratory.</a:t>
            </a:r>
          </a:p>
        </p:txBody>
      </p:sp>
    </p:spTree>
    <p:extLst>
      <p:ext uri="{BB962C8B-B14F-4D97-AF65-F5344CB8AC3E}">
        <p14:creationId xmlns:p14="http://schemas.microsoft.com/office/powerpoint/2010/main" val="8654355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2026-09-02T07:45:49.6900000Z</dcterms:created>
  <dcterms:modified xsi:type="dcterms:W3CDTF">2026-09-02T07:45:49.6900000Z</dcterms:modified>
</coreProperties>
</file>