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PERSONA-MH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  <a:latin typeface="Calibri"/>
              </a:rPr>
              <a:t>When is human-like AI behavior appropriate
in mental-health counseling?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Calibri"/>
              </a:rPr>
              <a:t>Focused findings  ·  Human ratings  ·  Profile P and score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Metrics like HuMT measure how human-like a response sounds.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They do not measure whether the response is appropriate or safe.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Warm, human-like language can still mislead (false understanding, false care).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We need dimensions that separate style from appropriateness.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Profile P and secondary score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Human-likeness
(HuMT → 1–5)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Empathic
appropriateness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94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Deception
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945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Contextual
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OA  =  independent overall appropriateness  (locked before E/D/F)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  =  (H + E − D + F)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 reports each dimension separately.
S is a secondary ranking index — not a replacement for OA.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Calibri"/>
              </a:rPr>
              <a:t>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Calibri"/>
              </a:rPr>
              <a:t>660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raters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CounselBench Eval + Adv prompts; Claude, Gemini, GLM.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OA completed and locked before E/D/F.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 from a second blind round with the same rubric.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 uses v3.1: highest-severity AI-attributable anthropomorphic cue.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Evidence spans excluded from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Annotation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Five raters per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Ordinal 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ICC (avg of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Reading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Usable when averaged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6984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61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61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761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Strong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91839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Strong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31920"/>
            <a:ext cx="106984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041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041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0.78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041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Usable when averaged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Blind E reannotation substantially improved empathy agreement.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H1  ·  Human-likeness is not a reliable OA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HuMT–OA  ρ ≈ −0.10
HuMT-only CV R² ≈ 0.005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Almost no useful link to appropriateness.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Sounding human ≠ being appropriate.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H1 supported.</a:t>
            </a:r>
          </a:p>
        </p:txBody>
      </p:sp>
      <p:pic>
        <p:nvPicPr>
          <p:cNvPr id="6" name="Picture 5" descr="fig_humt_persona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5943600" cy="2349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H2  ·  E/D/F add information beyond HuMT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ΔCV R² ≈ 0.266
over HuMT-adjusted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PERSONA dimensions explain OA far better than human-likeness alone.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Joint test strongly supported.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H2 supported.</a:t>
            </a:r>
          </a:p>
        </p:txBody>
      </p:sp>
      <p:pic>
        <p:nvPicPr>
          <p:cNvPr id="6" name="Picture 5" descr="fig_s_regressio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217920" cy="2873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H3  ·  Directions in the joint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  ↑  higher OA
F  ↑  higher OA
D  ↑  lower 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Empathy and fit help.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Deception risk hurts.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H3 supported.</a:t>
            </a:r>
          </a:p>
        </p:txBody>
      </p:sp>
      <p:pic>
        <p:nvPicPr>
          <p:cNvPr id="6" name="Picture 5" descr="fig_regression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3514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H4  ·  Models differ in OA / E / F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Differences are real
but small.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Claude tends highest on OA and F.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Gemini lower on OA/E/F; slightly higher 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Not a dramatic winner/loser story.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H4 supported.</a:t>
            </a:r>
          </a:p>
        </p:txBody>
      </p:sp>
      <p:pic>
        <p:nvPicPr>
          <p:cNvPr id="6" name="Picture 5" descr="fig_model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035040" cy="17677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Hypotheses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8191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HuMT is not a reliable OA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5819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A1A1A"/>
                </a:solidFill>
                <a:latin typeface="Calibri"/>
              </a:rPr>
              <a:t>Supported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106984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334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E/D/F add predictive information beyond HuMT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6334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A1A1A"/>
                </a:solidFill>
                <a:latin typeface="Calibri"/>
              </a:rPr>
              <a:t>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6984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8503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E↑ and F↑ with OA; D↓ with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6850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A1A1A"/>
                </a:solidFill>
                <a:latin typeface="Calibri"/>
              </a:rPr>
              <a:t>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59"/>
            <a:ext cx="106984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H4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7365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Models differ in OA/E/F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7365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A1A1A"/>
                </a:solidFill>
                <a:latin typeface="Calibri"/>
              </a:rPr>
              <a:t>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Score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Secondary ranking index beside profile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1A"/>
                </a:solidFill>
                <a:latin typeface="Calibri"/>
              </a:rPr>
              <a:t>S  =  (H + E − D + F)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 is HuMT remapped to the 1–5 Likert range (corpus min–max).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Higher E and F raise S; higher D lowers 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 keeps the dimensions separate for diagnosis.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 compresses them for transparent model ranking.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OA remains the independent human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 tracks OA and ranks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S–OA  ρ ≈ 0.33
Without H:
S_persona–OA  ρ ≈ 0.41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 is a useful secondary index.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Dropping H improves tracking — consistent with H1.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Rank by S: GLM ≳ Claude ≫ Gemini.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OA rank puts Claude first (related, not identical).</a:t>
            </a:r>
          </a:p>
        </p:txBody>
      </p:sp>
      <p:pic>
        <p:nvPicPr>
          <p:cNvPr id="6" name="Picture 5" descr="fig_s_validity_an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43000"/>
            <a:ext cx="6217920" cy="2446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S formula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Which pieces matter for tracking OA?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 alone is the strongest single piece.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Dropping H improves the equal-weight score.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Dropping E or F hurts clearly.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 alone is weak here (mostly low scores), but still helps in the joint model.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Ablation supports keeping E, D, F in S; H is optional for ranking.</a:t>
            </a:r>
          </a:p>
        </p:txBody>
      </p:sp>
      <p:pic>
        <p:nvPicPr>
          <p:cNvPr id="6" name="Picture 5" descr="fig_s_formula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217920" cy="30695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68680"/>
            <a:ext cx="110642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Human-likeness is not a reliable proxy for appropriateness.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E, D, and F jointly explain OA far beyond HuMT.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Empathy and fit help; deception risk hurts.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Models differ in OA/E/F, but effect sizes are small.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Profile P diagnoses; score S ranks — both are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Calibri"/>
              </a:rPr>
              <a:t>Ordinal scores · severe D is rare in this corpus · ADV/EVAL prompts are unmatched · S is secondary to independent 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PERSONA-MH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