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Georgia"/>
              </a:rPr>
              <a:t>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D7E6EA"/>
                </a:solidFill>
                <a:latin typeface="Calibri"/>
              </a:rPr>
              <a:t>Evaluating Appropriate Anthropomorphism in AI
Mental-Health Validation Study — Project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Meeting presentation  ·  Pipeline, results, and next decisions
Data: 660 responses  ·  Models: GLM, Gemini, Claude Opus 4.8  ·  Metrics: HuMT + E/D/F/OA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What we will cover in 15–20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• Problem &amp; PERSONA framework (2 min)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• What we built: data + annotation + analysis pipeline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• Key empirical findings (honest read of the evidence)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• What is and is not yet scientifically solid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• Decisions needed for the next sprint / paper path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Existing evaluations miss when human-like behavior is inappropriate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LLMs are rewarded for sounding human: warmth, first person, continuity cues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CounselBench measures quality / empathy / safety — not anthropomorphic deception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HuMT measures descriptive human-likeness — not whether that likeness is suitable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Core question: When should an AI act human-like, and when is that misleading?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Especially critical in mental-health support (attachment, authority, false promises)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PERSONA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Separate descriptive likeness from normative appropriateness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1031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09728" cy="402336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6459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H / HuMT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164591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Descriptive human-likeness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Automated (GPT-2 TD)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Not a goal by itself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63040"/>
            <a:ext cx="21031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463040"/>
            <a:ext cx="109728" cy="402336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645920"/>
            <a:ext cx="16459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E — Empathy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57400"/>
            <a:ext cx="164591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Validation &amp; warmth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1–5 Likert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Helpful support 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1031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109728" cy="4023360"/>
          </a:xfrm>
          <a:prstGeom prst="rect">
            <a:avLst/>
          </a:prstGeom>
          <a:solidFill>
            <a:srgbClr val="C4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645920"/>
            <a:ext cx="16459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D — Deception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057400"/>
            <a:ext cx="164591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False memory / emotion /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friendship / dependence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Key distinctive construct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463040"/>
            <a:ext cx="21031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463040"/>
            <a:ext cx="109728" cy="402336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645920"/>
            <a:ext cx="16459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F — Contextual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057400"/>
            <a:ext cx="164591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Style matches situation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Crisis vs advice vs support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Role-appropriate behavior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463040"/>
            <a:ext cx="21031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463040"/>
            <a:ext cx="109728" cy="4023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645920"/>
            <a:ext cx="16459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OA — Overall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057400"/>
            <a:ext cx="164591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Holistic suitability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Not average of E/D/F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Primary outcome for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5/14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End-to-end research pipeline in the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Prompts: CounselBench-EVAL (100) + CounselBench-ADV (120)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Responses: GLM, Gemini, Claude Opus 4.8 × both sets = 660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HuMT scores for every response (independent automated measure)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persona_annotation/: scaffold → score → per-model CSV export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analysis/: full statistical suite → figures/, tables/, results/, reports/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A4A4A"/>
                </a:solidFill>
                <a:latin typeface="Calibri"/>
              </a:rPr>
              <a:t>• Repo cleaned; documentation updated to match Executive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6/14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Data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Prompts → Responses → HuMT → PERSONA →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A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CounselBench
prompts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3063240"/>
            <a:ext cx="274320" cy="320040"/>
          </a:xfrm>
          <a:prstGeom prst="rightArrow">
            <a:avLst/>
          </a:prstGeom>
          <a:solidFill>
            <a:srgbClr val="C4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56032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A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8803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Model
responses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09160" y="3063240"/>
            <a:ext cx="274320" cy="320040"/>
          </a:xfrm>
          <a:prstGeom prst="rightArrow">
            <a:avLst/>
          </a:prstGeom>
          <a:solidFill>
            <a:srgbClr val="C4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256032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A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8803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HuMT
scores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95160" y="3063240"/>
            <a:ext cx="274320" cy="320040"/>
          </a:xfrm>
          <a:prstGeom prst="rightArrow">
            <a:avLst/>
          </a:prstGeom>
          <a:solidFill>
            <a:srgbClr val="C4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256032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A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8803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PERSONA
CSV labels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81160" y="3063240"/>
            <a:ext cx="274320" cy="320040"/>
          </a:xfrm>
          <a:prstGeom prst="rightArrow">
            <a:avLst/>
          </a:prstGeom>
          <a:solidFill>
            <a:srgbClr val="C4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2560320"/>
            <a:ext cx="1920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A6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880360"/>
            <a:ext cx="173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Stats &amp;
figures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4A4A4A"/>
                </a:solidFill>
                <a:latin typeface="Calibri"/>
              </a:rPr>
              <a:t>• Raw prompt / response / HuMT files are never overwritten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A4A4A"/>
                </a:solidFill>
                <a:latin typeface="Calibri"/>
              </a:rPr>
              <a:t>• Analysis is config-driven and reproducible: python -m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7/14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Current dataset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What is ready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09728" cy="411480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220 responses × 3 models = 660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HuMT for all 660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PERSONA pilot scores E/D/F/OA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Per-model annotation CSVs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47 figures + 20 LaTeX tables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Auto-generated analysis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109728" cy="4114800"/>
          </a:xfrm>
          <a:prstGeom prst="rect">
            <a:avLst/>
          </a:prstGeom>
          <a:solidFill>
            <a:srgbClr val="C4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Not yet in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Expert multi-rater annotations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Inter-rater reliability (IRR)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PERSONA-ADV prompt set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CounselBench metric joins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GPT / therapist baselines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Independent OA (not rule-derived)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46304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463040"/>
            <a:ext cx="109728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057400"/>
            <a:ext cx="28346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glm (z-ai/glm-5.2)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gemini-3.1-pro-preview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claude-opus-4.8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Fixed system prompt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T = 0.2, &lt;170 words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8/14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Strongest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What the completed analyses actually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• HuMT ≠ appropriateness: Spearman ρ(HuMT, OA) ≈ 0.21 (significant but weak)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HuMT alone predicts almost none of OA (adj R² ≈ 0.04)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Models differ on Empathy and OA (Claude less empathic than Gemini; d ≈ 0.65 on E)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E / D / F are weakly intercorrelated — not one collapsed “warmth” factor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ADV prompts lower HuMT vs EVAL; OA does not shift much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Paper-ready takeaway: human-likeness is a poor proxy for appropriateness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9/14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Critical caveat (must discuss)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Why we should not overclaim incremental validity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• Current OA was produced by an automated rule that uses E, D, and 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A4A4A"/>
                </a:solidFill>
                <a:latin typeface="Calibri"/>
              </a:rPr>
              <a:t>• So “OA ~ E+D+F explains 88% variance” is largely circular — not independent proof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A4A4A"/>
                </a:solidFill>
                <a:latin typeface="Calibri"/>
              </a:rPr>
              <a:t>• Deception Risk barely moves (mean ≈ 1.02, median 1) → floor effect under safe system prompt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A4A4A"/>
                </a:solidFill>
                <a:latin typeface="Calibri"/>
              </a:rPr>
              <a:t>• No clinician multi-rater labels yet → no IRR, weak construct validity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A4A4A"/>
                </a:solidFill>
                <a:latin typeface="Calibri"/>
              </a:rPr>
              <a:t>• CounselBench expert metrics not joined → cannot yet claim superiority over CounselBench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4A4A4A"/>
                </a:solidFill>
                <a:latin typeface="Calibri"/>
              </a:rPr>
              <a:t>• Honest stance: PARTIAL support for PERSONA; framework promising, measurement unfinished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10/14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Hypothesis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Supported / Partial / Not supported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B2A4A"/>
                </a:solidFill>
                <a:latin typeface="Calibri"/>
              </a:rPr>
              <a:t>H1 Models differ on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C45A3B"/>
                </a:solidFill>
                <a:latin typeface="Calibri"/>
              </a:rPr>
              <a:t>Not supported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B2A4A"/>
                </a:solidFill>
                <a:latin typeface="Calibri"/>
              </a:rPr>
              <a:t>H2 Models differ on 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A6F7A"/>
                </a:solidFill>
                <a:latin typeface="Calibri"/>
              </a:rPr>
              <a:t>Supported (small)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B2A4A"/>
                </a:solidFill>
                <a:latin typeface="Calibri"/>
              </a:rPr>
              <a:t>H3 HuMT correlates with 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974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A6F7A"/>
                </a:solidFill>
                <a:latin typeface="Calibri"/>
              </a:rPr>
              <a:t>Supported (weak)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040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B2A4A"/>
                </a:solidFill>
                <a:latin typeface="Calibri"/>
              </a:rPr>
              <a:t>H4 PERSONA &gt; HuMT for 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2918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B47F2A"/>
                </a:solidFill>
                <a:latin typeface="Calibri"/>
              </a:rPr>
              <a:t>Partial (stats yes / validity no)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86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B2A4A"/>
                </a:solidFill>
                <a:latin typeface="Calibri"/>
              </a:rPr>
              <a:t>H5 D higher on ADV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862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C45A3B"/>
                </a:solidFill>
                <a:latin typeface="Calibri"/>
              </a:rPr>
              <a:t>Not supported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8912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805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B2A4A"/>
                </a:solidFill>
                <a:latin typeface="Calibri"/>
              </a:rPr>
              <a:t>H6 E–OA when D 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48055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B47F2A"/>
                </a:solidFill>
                <a:latin typeface="Calibri"/>
              </a:rPr>
              <a:t>Partial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110642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B2A4A"/>
                </a:solidFill>
                <a:latin typeface="Calibri"/>
              </a:rPr>
              <a:t>H7 F correlates with 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0749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A6F7A"/>
                </a:solidFill>
                <a:latin typeface="Calibri"/>
              </a:rPr>
              <a:t>Supported (within labels)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11/14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If we submitted today…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Internal reviewer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4864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09728" cy="4206240"/>
          </a:xfrm>
          <a:prstGeom prst="rect">
            <a:avLst/>
          </a:prstGeom>
          <a:solidFill>
            <a:srgbClr val="C4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Likely reactions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0292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CHI / FAccT: interesting problem; Weak Reject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ACL / EMNLP: Reject as full paper today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They will buy: HuMT ≠ appropriateness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They will challenge: ΔR² = 0.84 claim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They will ask for expert IRR + PERSONA-ADV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Reproducibility / code: strong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109728" cy="420624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What to claim in 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84632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SAY: multi-axis evaluation is needed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SAY: HuMT is insufficient alone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SAY: pipeline is ready for expert labels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DON’T SAY: PERSONA validated vs HumT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DON’T SAY: D detects adversarial failure yet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DON’T SAY: CounselBench is superseded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12/14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Decisions for this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Prioritized asks for 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• Critical: collect multi-rater clinician labels with OA independent of E/D/F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Critical: design PERSONA-ADV (memory / attachment / promise / authority)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Important: join CounselBench expert metrics for convergent validity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Important: decide whether to relax system prompt for D elicitation studies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Paper path: lead with HuMT≠OA; demote circular regression until new labels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4A4A4A"/>
                </a:solidFill>
                <a:latin typeface="Calibri"/>
              </a:rPr>
              <a:t>• Abstract candidate: “human-likeness correlates only modestly with appropriateness (ρ≈0.21)”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PERSONA-MH  ·  Project update  ·  13/14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Internal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Proposed next 4–6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6F7A"/>
                </a:solidFill>
                <a:latin typeface="Calibri"/>
              </a:rPr>
              <a:t>Concrete plan after this meeting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09728" cy="411480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Week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Finalize annotation rubric pack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Recruit 3–5 expert annotators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Pilot 30–40 responses + IRR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Draft PERSONA-ADV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109728" cy="4114800"/>
          </a:xfrm>
          <a:prstGeom prst="rect">
            <a:avLst/>
          </a:prstGeom>
          <a:solidFill>
            <a:srgbClr val="2A6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Week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Full annotation round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Generate PERSONA-ADV replies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Join CounselBench metrics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Re-run core analyses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8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109728" cy="4114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2A4A"/>
                </a:solidFill>
                <a:latin typeface="Georgia"/>
              </a:rPr>
              <a:t>Week 5–6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5740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Rewrite claims to match data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CHI-ready figures (top 6)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Internal mock review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A4A4A"/>
                </a:solidFill>
                <a:latin typeface="Calibri"/>
              </a:rPr>
              <a:t>Decide venue target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Georgia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7E6EA"/>
                </a:solidFill>
                <a:latin typeface="Calibri"/>
              </a:rPr>
              <a:t>One-line position for the room:
PERSONA is a promising evaluation agenda; current evidence partially supports it.
Next milestone = independent expert labels + deception-sensitive prompts.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C5CC"/>
                </a:solidFill>
                <a:latin typeface="Calibri"/>
              </a:rPr>
              <a:t>Repo: PERSONA-MH-CHI  ·  Report: reports/analysis_report.md  ·  CSVs: annotations_csv/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